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Lst>
  <p:notesMasterIdLst>
    <p:notesMasterId r:id="rId24"/>
  </p:notesMasterIdLst>
  <p:handoutMasterIdLst>
    <p:handoutMasterId r:id="rId25"/>
  </p:handoutMasterIdLst>
  <p:sldIdLst>
    <p:sldId id="256" r:id="rId5"/>
    <p:sldId id="257" r:id="rId6"/>
    <p:sldId id="259" r:id="rId7"/>
    <p:sldId id="305" r:id="rId8"/>
    <p:sldId id="291" r:id="rId9"/>
    <p:sldId id="297" r:id="rId10"/>
    <p:sldId id="298" r:id="rId11"/>
    <p:sldId id="278" r:id="rId12"/>
    <p:sldId id="295" r:id="rId13"/>
    <p:sldId id="299" r:id="rId14"/>
    <p:sldId id="300" r:id="rId15"/>
    <p:sldId id="306" r:id="rId16"/>
    <p:sldId id="301" r:id="rId17"/>
    <p:sldId id="302" r:id="rId18"/>
    <p:sldId id="303" r:id="rId19"/>
    <p:sldId id="304" r:id="rId20"/>
    <p:sldId id="307" r:id="rId21"/>
    <p:sldId id="308" r:id="rId22"/>
    <p:sldId id="296" r:id="rId23"/>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78" d="100"/>
          <a:sy n="78" d="100"/>
        </p:scale>
        <p:origin x="956"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4988"/>
          </a:xfrm>
          <a:prstGeom prst="rect">
            <a:avLst/>
          </a:prstGeom>
        </p:spPr>
        <p:txBody>
          <a:bodyPr vert="horz" lIns="91440" tIns="45720" rIns="91440" bIns="45720" rtlCol="0"/>
          <a:lstStyle>
            <a:lvl1pPr algn="r">
              <a:defRPr sz="1200"/>
            </a:lvl1pPr>
          </a:lstStyle>
          <a:p>
            <a:fld id="{E7425478-1D37-4D44-946B-07C6C92CD75B}" type="datetimeFigureOut">
              <a:rPr lang="en-US" smtClean="0"/>
              <a:pPr/>
              <a:t>9/11/2026</a:t>
            </a:fld>
            <a:endParaRPr lang="en-US"/>
          </a:p>
        </p:txBody>
      </p:sp>
      <p:sp>
        <p:nvSpPr>
          <p:cNvPr id="4" name="Footer Placeholder 3"/>
          <p:cNvSpPr>
            <a:spLocks noGrp="1"/>
          </p:cNvSpPr>
          <p:nvPr>
            <p:ph type="ftr" sz="quarter" idx="2"/>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281488" y="10155238"/>
            <a:ext cx="3276600" cy="534987"/>
          </a:xfrm>
          <a:prstGeom prst="rect">
            <a:avLst/>
          </a:prstGeom>
        </p:spPr>
        <p:txBody>
          <a:bodyPr vert="horz" lIns="91440" tIns="45720" rIns="91440" bIns="45720" rtlCol="0" anchor="b"/>
          <a:lstStyle>
            <a:lvl1pPr algn="r">
              <a:defRPr sz="1200"/>
            </a:lvl1pPr>
          </a:lstStyle>
          <a:p>
            <a:fld id="{0DA63C4D-9E90-4BE8-A7FA-08F67F2C3AB9}" type="slidenum">
              <a:rPr lang="en-US" smtClean="0"/>
              <a:pPr/>
              <a:t>‹#›</a:t>
            </a:fld>
            <a:endParaRPr lang="en-US"/>
          </a:p>
        </p:txBody>
      </p:sp>
    </p:spTree>
    <p:extLst>
      <p:ext uri="{BB962C8B-B14F-4D97-AF65-F5344CB8AC3E}">
        <p14:creationId xmlns:p14="http://schemas.microsoft.com/office/powerpoint/2010/main" val="4024368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FDA1095-D5BE-484E-9C8B-1E130C56B2F8}" type="datetimeFigureOut">
              <a:rPr lang="en-IN" smtClean="0"/>
              <a:pPr/>
              <a:t>11-09-2026</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928470E1-5FCC-4C2C-936D-DD9E23652CE5}" type="slidenum">
              <a:rPr lang="en-IN" smtClean="0"/>
              <a:pPr/>
              <a:t>‹#›</a:t>
            </a:fld>
            <a:endParaRPr lang="en-IN"/>
          </a:p>
        </p:txBody>
      </p:sp>
    </p:spTree>
    <p:extLst>
      <p:ext uri="{BB962C8B-B14F-4D97-AF65-F5344CB8AC3E}">
        <p14:creationId xmlns:p14="http://schemas.microsoft.com/office/powerpoint/2010/main" val="1480749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8470E1-5FCC-4C2C-936D-DD9E23652CE5}" type="slidenum">
              <a:rPr lang="en-IN" smtClean="0"/>
              <a:pPr/>
              <a:t>6</a:t>
            </a:fld>
            <a:endParaRPr lang="en-IN"/>
          </a:p>
        </p:txBody>
      </p:sp>
    </p:spTree>
    <p:extLst>
      <p:ext uri="{BB962C8B-B14F-4D97-AF65-F5344CB8AC3E}">
        <p14:creationId xmlns:p14="http://schemas.microsoft.com/office/powerpoint/2010/main" val="589698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8470E1-5FCC-4C2C-936D-DD9E23652CE5}" type="slidenum">
              <a:rPr lang="en-IN" smtClean="0"/>
              <a:pPr/>
              <a:t>16</a:t>
            </a:fld>
            <a:endParaRPr lang="en-IN"/>
          </a:p>
        </p:txBody>
      </p:sp>
    </p:spTree>
    <p:extLst>
      <p:ext uri="{BB962C8B-B14F-4D97-AF65-F5344CB8AC3E}">
        <p14:creationId xmlns:p14="http://schemas.microsoft.com/office/powerpoint/2010/main" val="3280644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2">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_1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9" name="Google Shape;9;p13"/>
          <p:cNvSpPr/>
          <p:nvPr/>
        </p:nvSpPr>
        <p:spPr>
          <a:xfrm>
            <a:off x="171360" y="145800"/>
            <a:ext cx="8800560" cy="4851360"/>
          </a:xfrm>
          <a:prstGeom prst="rect">
            <a:avLst/>
          </a:prstGeom>
          <a:solidFill>
            <a:schemeClr val="lt1"/>
          </a:solidFill>
          <a:ln w="0">
            <a:noFill/>
          </a:ln>
          <a:effectLst>
            <a:outerShdw blurRad="57240" dist="19080" dir="5400000" algn="bl" rotWithShape="0">
              <a:schemeClr val="dk1">
                <a:alpha val="49411"/>
              </a:schemeClr>
            </a:outerShdw>
          </a:effectLst>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IN" sz="1400" b="0" strike="noStrike" spc="-1">
              <a:solidFill>
                <a:srgbClr val="000000"/>
              </a:solidFill>
              <a:latin typeface="Arial"/>
            </a:endParaRPr>
          </a:p>
        </p:txBody>
      </p:sp>
      <p:grpSp>
        <p:nvGrpSpPr>
          <p:cNvPr id="10" name="Google Shape;12;p13"/>
          <p:cNvGrpSpPr/>
          <p:nvPr/>
        </p:nvGrpSpPr>
        <p:grpSpPr>
          <a:xfrm>
            <a:off x="435600" y="1292040"/>
            <a:ext cx="90720" cy="3706200"/>
            <a:chOff x="435600" y="1292040"/>
            <a:chExt cx="90720" cy="3706200"/>
          </a:xfrm>
        </p:grpSpPr>
        <p:sp>
          <p:nvSpPr>
            <p:cNvPr id="2" name="Google Shape;13;p13"/>
            <p:cNvSpPr/>
            <p:nvPr/>
          </p:nvSpPr>
          <p:spPr>
            <a:xfrm rot="16200000" flipH="1">
              <a:off x="228600" y="149940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cxnSp>
          <p:nvCxnSpPr>
            <p:cNvPr id="3" name="Google Shape;14;p13"/>
            <p:cNvCxnSpPr/>
            <p:nvPr/>
          </p:nvCxnSpPr>
          <p:spPr>
            <a:xfrm>
              <a:off x="435600" y="1292040"/>
              <a:ext cx="720" cy="3706560"/>
            </a:xfrm>
            <a:prstGeom prst="straightConnector1">
              <a:avLst/>
            </a:prstGeom>
            <a:ln w="9525">
              <a:solidFill>
                <a:srgbClr val="586847"/>
              </a:solidFill>
              <a:round/>
            </a:ln>
          </p:spPr>
        </p:cxnSp>
      </p:grpSp>
      <p:grpSp>
        <p:nvGrpSpPr>
          <p:cNvPr id="4" name="Google Shape;15;p13"/>
          <p:cNvGrpSpPr/>
          <p:nvPr/>
        </p:nvGrpSpPr>
        <p:grpSpPr>
          <a:xfrm>
            <a:off x="8616960" y="97200"/>
            <a:ext cx="90720" cy="3706200"/>
            <a:chOff x="8616960" y="97200"/>
            <a:chExt cx="90720" cy="3706200"/>
          </a:xfrm>
        </p:grpSpPr>
        <p:sp>
          <p:nvSpPr>
            <p:cNvPr id="5" name="Google Shape;16;p13"/>
            <p:cNvSpPr/>
            <p:nvPr/>
          </p:nvSpPr>
          <p:spPr>
            <a:xfrm rot="16200000">
              <a:off x="8410320" y="350568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cxnSp>
          <p:nvCxnSpPr>
            <p:cNvPr id="6" name="Google Shape;17;p13"/>
            <p:cNvCxnSpPr/>
            <p:nvPr/>
          </p:nvCxnSpPr>
          <p:spPr>
            <a:xfrm flipV="1">
              <a:off x="8616960" y="97200"/>
              <a:ext cx="720" cy="3706560"/>
            </a:xfrm>
            <a:prstGeom prst="straightConnector1">
              <a:avLst/>
            </a:prstGeom>
            <a:ln w="9525">
              <a:solidFill>
                <a:srgbClr val="586847"/>
              </a:solidFill>
              <a:round/>
            </a:ln>
          </p:spPr>
        </p:cxnSp>
      </p:grpSp>
      <p:sp>
        <p:nvSpPr>
          <p:cNvPr id="7" name="PlaceHolder 1"/>
          <p:cNvSpPr>
            <a:spLocks noGrp="1"/>
          </p:cNvSpPr>
          <p:nvPr>
            <p:ph type="title"/>
          </p:nvPr>
        </p:nvSpPr>
        <p:spPr>
          <a:xfrm>
            <a:off x="720000" y="444960"/>
            <a:ext cx="7703280" cy="57204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11" name="Google Shape;19;p14"/>
          <p:cNvSpPr/>
          <p:nvPr/>
        </p:nvSpPr>
        <p:spPr>
          <a:xfrm>
            <a:off x="171360" y="145800"/>
            <a:ext cx="8800560" cy="4851360"/>
          </a:xfrm>
          <a:prstGeom prst="rect">
            <a:avLst/>
          </a:prstGeom>
          <a:solidFill>
            <a:schemeClr val="lt1"/>
          </a:solidFill>
          <a:ln w="0">
            <a:noFill/>
          </a:ln>
          <a:effectLst>
            <a:outerShdw blurRad="57240" dist="19080" dir="5400000" algn="bl" rotWithShape="0">
              <a:schemeClr val="dk1">
                <a:alpha val="49411"/>
              </a:schemeClr>
            </a:outerShdw>
          </a:effectLst>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IN" sz="1400" b="0" strike="noStrike" spc="-1">
              <a:solidFill>
                <a:srgbClr val="000000"/>
              </a:solidFill>
              <a:latin typeface="Arial"/>
            </a:endParaRPr>
          </a:p>
        </p:txBody>
      </p:sp>
      <p:grpSp>
        <p:nvGrpSpPr>
          <p:cNvPr id="12" name="Google Shape;27;p14"/>
          <p:cNvGrpSpPr/>
          <p:nvPr/>
        </p:nvGrpSpPr>
        <p:grpSpPr>
          <a:xfrm>
            <a:off x="435600" y="97200"/>
            <a:ext cx="8272080" cy="4901040"/>
            <a:chOff x="435600" y="97200"/>
            <a:chExt cx="8272080" cy="4901040"/>
          </a:xfrm>
        </p:grpSpPr>
        <p:grpSp>
          <p:nvGrpSpPr>
            <p:cNvPr id="13" name="Google Shape;28;p14"/>
            <p:cNvGrpSpPr/>
            <p:nvPr/>
          </p:nvGrpSpPr>
          <p:grpSpPr>
            <a:xfrm>
              <a:off x="435600" y="1292040"/>
              <a:ext cx="90720" cy="3706200"/>
              <a:chOff x="435600" y="1292040"/>
              <a:chExt cx="90720" cy="3706200"/>
            </a:xfrm>
          </p:grpSpPr>
          <p:sp>
            <p:nvSpPr>
              <p:cNvPr id="14" name="Google Shape;29;p14"/>
              <p:cNvSpPr/>
              <p:nvPr/>
            </p:nvSpPr>
            <p:spPr>
              <a:xfrm rot="16200000" flipH="1">
                <a:off x="228600" y="149940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cxnSp>
            <p:nvCxnSpPr>
              <p:cNvPr id="15" name="Google Shape;30;p14"/>
              <p:cNvCxnSpPr/>
              <p:nvPr/>
            </p:nvCxnSpPr>
            <p:spPr>
              <a:xfrm>
                <a:off x="435600" y="1292040"/>
                <a:ext cx="720" cy="3706560"/>
              </a:xfrm>
              <a:prstGeom prst="straightConnector1">
                <a:avLst/>
              </a:prstGeom>
              <a:ln w="9525">
                <a:solidFill>
                  <a:srgbClr val="586847"/>
                </a:solidFill>
                <a:round/>
              </a:ln>
            </p:spPr>
          </p:cxnSp>
        </p:grpSp>
        <p:grpSp>
          <p:nvGrpSpPr>
            <p:cNvPr id="16" name="Google Shape;31;p14"/>
            <p:cNvGrpSpPr/>
            <p:nvPr/>
          </p:nvGrpSpPr>
          <p:grpSpPr>
            <a:xfrm>
              <a:off x="8616960" y="97200"/>
              <a:ext cx="90720" cy="3706200"/>
              <a:chOff x="8616960" y="97200"/>
              <a:chExt cx="90720" cy="3706200"/>
            </a:xfrm>
          </p:grpSpPr>
          <p:sp>
            <p:nvSpPr>
              <p:cNvPr id="17" name="Google Shape;32;p14"/>
              <p:cNvSpPr/>
              <p:nvPr/>
            </p:nvSpPr>
            <p:spPr>
              <a:xfrm rot="16200000">
                <a:off x="8410320" y="350568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cxnSp>
            <p:nvCxnSpPr>
              <p:cNvPr id="18" name="Google Shape;33;p14"/>
              <p:cNvCxnSpPr/>
              <p:nvPr/>
            </p:nvCxnSpPr>
            <p:spPr>
              <a:xfrm flipV="1">
                <a:off x="8616960" y="97200"/>
                <a:ext cx="720" cy="3706560"/>
              </a:xfrm>
              <a:prstGeom prst="straightConnector1">
                <a:avLst/>
              </a:prstGeom>
              <a:ln w="9525">
                <a:solidFill>
                  <a:srgbClr val="586847"/>
                </a:solidFill>
                <a:round/>
              </a:ln>
            </p:spPr>
          </p:cxnSp>
        </p:grpSp>
      </p:grpSp>
      <p:sp>
        <p:nvSpPr>
          <p:cNvPr id="1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2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21" name="Google Shape;35;p15"/>
          <p:cNvSpPr/>
          <p:nvPr/>
        </p:nvSpPr>
        <p:spPr>
          <a:xfrm>
            <a:off x="171360" y="145800"/>
            <a:ext cx="8800560" cy="4851360"/>
          </a:xfrm>
          <a:prstGeom prst="rect">
            <a:avLst/>
          </a:prstGeom>
          <a:solidFill>
            <a:schemeClr val="lt1"/>
          </a:solidFill>
          <a:ln w="0">
            <a:noFill/>
          </a:ln>
          <a:effectLst>
            <a:outerShdw blurRad="57240" dist="19080" dir="5400000" algn="bl" rotWithShape="0">
              <a:schemeClr val="dk1">
                <a:alpha val="49411"/>
              </a:schemeClr>
            </a:outerShdw>
          </a:effectLst>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IN" sz="1400" b="0" strike="noStrike" spc="-1">
              <a:solidFill>
                <a:srgbClr val="000000"/>
              </a:solidFill>
              <a:latin typeface="Arial"/>
            </a:endParaRPr>
          </a:p>
        </p:txBody>
      </p:sp>
      <p:grpSp>
        <p:nvGrpSpPr>
          <p:cNvPr id="22" name="Google Shape;36;p15"/>
          <p:cNvGrpSpPr/>
          <p:nvPr/>
        </p:nvGrpSpPr>
        <p:grpSpPr>
          <a:xfrm>
            <a:off x="-1328760" y="1292400"/>
            <a:ext cx="3697200" cy="1848600"/>
            <a:chOff x="-1328760" y="1292400"/>
            <a:chExt cx="3697200" cy="1848600"/>
          </a:xfrm>
        </p:grpSpPr>
        <p:cxnSp>
          <p:nvCxnSpPr>
            <p:cNvPr id="23" name="Google Shape;37;p15"/>
            <p:cNvCxnSpPr/>
            <p:nvPr/>
          </p:nvCxnSpPr>
          <p:spPr>
            <a:xfrm>
              <a:off x="-1328760" y="3140640"/>
              <a:ext cx="3697560" cy="720"/>
            </a:xfrm>
            <a:prstGeom prst="straightConnector1">
              <a:avLst/>
            </a:prstGeom>
            <a:ln w="9525">
              <a:solidFill>
                <a:srgbClr val="586847"/>
              </a:solidFill>
              <a:round/>
            </a:ln>
          </p:spPr>
        </p:cxnSp>
        <p:sp>
          <p:nvSpPr>
            <p:cNvPr id="24" name="Google Shape;38;p15"/>
            <p:cNvSpPr/>
            <p:nvPr/>
          </p:nvSpPr>
          <p:spPr>
            <a:xfrm rot="5400000">
              <a:off x="221760" y="149940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grpSp>
      <p:grpSp>
        <p:nvGrpSpPr>
          <p:cNvPr id="25" name="Google Shape;39;p15"/>
          <p:cNvGrpSpPr/>
          <p:nvPr/>
        </p:nvGrpSpPr>
        <p:grpSpPr>
          <a:xfrm>
            <a:off x="6756840" y="1994400"/>
            <a:ext cx="3697560" cy="1848600"/>
            <a:chOff x="6756840" y="1994400"/>
            <a:chExt cx="3697560" cy="1848600"/>
          </a:xfrm>
        </p:grpSpPr>
        <p:cxnSp>
          <p:nvCxnSpPr>
            <p:cNvPr id="26" name="Google Shape;40;p15"/>
            <p:cNvCxnSpPr/>
            <p:nvPr/>
          </p:nvCxnSpPr>
          <p:spPr>
            <a:xfrm flipH="1">
              <a:off x="6756840" y="1994400"/>
              <a:ext cx="3697920" cy="720"/>
            </a:xfrm>
            <a:prstGeom prst="straightConnector1">
              <a:avLst/>
            </a:prstGeom>
            <a:ln w="9525">
              <a:solidFill>
                <a:srgbClr val="586847"/>
              </a:solidFill>
              <a:round/>
            </a:ln>
          </p:spPr>
        </p:cxnSp>
        <p:sp>
          <p:nvSpPr>
            <p:cNvPr id="27" name="Google Shape;41;p15"/>
            <p:cNvSpPr/>
            <p:nvPr/>
          </p:nvSpPr>
          <p:spPr>
            <a:xfrm rot="16200000">
              <a:off x="8398800" y="354564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gr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
        <p:nvSpPr>
          <p:cNvPr id="28" name="Google Shape;43;p16"/>
          <p:cNvSpPr/>
          <p:nvPr/>
        </p:nvSpPr>
        <p:spPr>
          <a:xfrm>
            <a:off x="171360" y="145800"/>
            <a:ext cx="8800560" cy="4851360"/>
          </a:xfrm>
          <a:prstGeom prst="rect">
            <a:avLst/>
          </a:prstGeom>
          <a:solidFill>
            <a:schemeClr val="lt1"/>
          </a:solidFill>
          <a:ln w="0">
            <a:noFill/>
          </a:ln>
          <a:effectLst>
            <a:outerShdw blurRad="57240" dist="19080" dir="5400000" algn="bl" rotWithShape="0">
              <a:schemeClr val="dk1">
                <a:alpha val="49411"/>
              </a:schemeClr>
            </a:outerShdw>
          </a:effectLst>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IN" sz="1400" b="0" strike="noStrike" spc="-1">
              <a:solidFill>
                <a:srgbClr val="000000"/>
              </a:solidFill>
              <a:latin typeface="Arial"/>
            </a:endParaRPr>
          </a:p>
        </p:txBody>
      </p:sp>
      <p:grpSp>
        <p:nvGrpSpPr>
          <p:cNvPr id="29" name="Google Shape;44;p16"/>
          <p:cNvGrpSpPr/>
          <p:nvPr/>
        </p:nvGrpSpPr>
        <p:grpSpPr>
          <a:xfrm>
            <a:off x="165240" y="4742280"/>
            <a:ext cx="6507000" cy="90720"/>
            <a:chOff x="165240" y="4742280"/>
            <a:chExt cx="6507000" cy="90720"/>
          </a:xfrm>
        </p:grpSpPr>
        <p:cxnSp>
          <p:nvCxnSpPr>
            <p:cNvPr id="30" name="Google Shape;45;p16"/>
            <p:cNvCxnSpPr/>
            <p:nvPr/>
          </p:nvCxnSpPr>
          <p:spPr>
            <a:xfrm flipH="1">
              <a:off x="165240" y="4832640"/>
              <a:ext cx="6507360" cy="720"/>
            </a:xfrm>
            <a:prstGeom prst="straightConnector1">
              <a:avLst/>
            </a:prstGeom>
            <a:ln w="9525">
              <a:solidFill>
                <a:srgbClr val="586847"/>
              </a:solidFill>
              <a:round/>
            </a:ln>
          </p:spPr>
        </p:cxnSp>
        <p:sp>
          <p:nvSpPr>
            <p:cNvPr id="31" name="Google Shape;46;p16"/>
            <p:cNvSpPr/>
            <p:nvPr/>
          </p:nvSpPr>
          <p:spPr>
            <a:xfrm rot="10800000">
              <a:off x="6167520" y="474228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grpSp>
      <p:grpSp>
        <p:nvGrpSpPr>
          <p:cNvPr id="32" name="Google Shape;47;p16"/>
          <p:cNvGrpSpPr/>
          <p:nvPr/>
        </p:nvGrpSpPr>
        <p:grpSpPr>
          <a:xfrm>
            <a:off x="2467800" y="297720"/>
            <a:ext cx="6506640" cy="91800"/>
            <a:chOff x="2467800" y="297720"/>
            <a:chExt cx="6506640" cy="91800"/>
          </a:xfrm>
        </p:grpSpPr>
        <p:cxnSp>
          <p:nvCxnSpPr>
            <p:cNvPr id="33" name="Google Shape;48;p16"/>
            <p:cNvCxnSpPr/>
            <p:nvPr/>
          </p:nvCxnSpPr>
          <p:spPr>
            <a:xfrm>
              <a:off x="2467800" y="389160"/>
              <a:ext cx="6507000" cy="720"/>
            </a:xfrm>
            <a:prstGeom prst="straightConnector1">
              <a:avLst/>
            </a:prstGeom>
            <a:ln w="9525">
              <a:solidFill>
                <a:srgbClr val="586847"/>
              </a:solidFill>
              <a:round/>
            </a:ln>
          </p:spPr>
        </p:cxnSp>
        <p:sp>
          <p:nvSpPr>
            <p:cNvPr id="34" name="Google Shape;49;p16"/>
            <p:cNvSpPr/>
            <p:nvPr/>
          </p:nvSpPr>
          <p:spPr>
            <a:xfrm flipV="1">
              <a:off x="2467800" y="297000"/>
              <a:ext cx="504360" cy="9036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lIns="90000" tIns="45360" rIns="90000" bIns="45360" anchor="ctr">
              <a:noAutofit/>
            </a:bodyPr>
            <a:lstStyle/>
            <a:p>
              <a:pPr>
                <a:lnSpc>
                  <a:spcPct val="100000"/>
                </a:lnSpc>
                <a:tabLst>
                  <a:tab pos="0" algn="l"/>
                </a:tabLst>
              </a:pPr>
              <a:endParaRPr lang="en-IN" sz="1400" b="0" strike="noStrike" spc="-1">
                <a:solidFill>
                  <a:srgbClr val="FFFFFF"/>
                </a:solidFill>
                <a:latin typeface="Aria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drive.google.com/drive/folders/1FLerMV2sr4RL57BAZfomfr1wmXX8L7TV?usp=drive_link"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drive/folders/1FLerMV2sr4RL57BAZfomfr1wmXX8L7TV?usp=drive_link"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Google Shape;54;p1" descr="C:\Users\ravikanthvarma\Desktop\mlrit.jpg"/>
          <p:cNvPicPr/>
          <p:nvPr/>
        </p:nvPicPr>
        <p:blipFill>
          <a:blip r:embed="rId2"/>
          <a:srcRect l="21749"/>
          <a:stretch/>
        </p:blipFill>
        <p:spPr>
          <a:xfrm>
            <a:off x="2447171" y="230661"/>
            <a:ext cx="4630351" cy="520200"/>
          </a:xfrm>
          <a:prstGeom prst="rect">
            <a:avLst/>
          </a:prstGeom>
          <a:ln w="0">
            <a:noFill/>
          </a:ln>
        </p:spPr>
      </p:pic>
      <p:sp>
        <p:nvSpPr>
          <p:cNvPr id="66" name="Google Shape;55;p1"/>
          <p:cNvSpPr/>
          <p:nvPr/>
        </p:nvSpPr>
        <p:spPr>
          <a:xfrm>
            <a:off x="908153" y="897194"/>
            <a:ext cx="7347240" cy="82954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tabLst>
                <a:tab pos="0" algn="l"/>
              </a:tabLst>
            </a:pPr>
            <a:r>
              <a:rPr lang="en-US" sz="1600" b="0" strike="noStrike" spc="-1" dirty="0">
                <a:solidFill>
                  <a:srgbClr val="000000"/>
                </a:solidFill>
                <a:latin typeface="Times New Roman"/>
                <a:ea typeface="Times New Roman"/>
              </a:rPr>
              <a:t>Major Project Presentation (Phase I)</a:t>
            </a:r>
            <a:br>
              <a:rPr sz="1600" dirty="0"/>
            </a:br>
            <a:r>
              <a:rPr lang="en-US" sz="1600" dirty="0">
                <a:solidFill>
                  <a:srgbClr val="00B0F0"/>
                </a:solidFill>
              </a:rPr>
              <a:t>Project Review 2 </a:t>
            </a:r>
            <a:r>
              <a:rPr lang="en-US" sz="1600" spc="-1" dirty="0">
                <a:solidFill>
                  <a:srgbClr val="000000"/>
                </a:solidFill>
                <a:latin typeface="Times New Roman"/>
                <a:cs typeface="Times New Roman"/>
              </a:rPr>
              <a:t>On</a:t>
            </a:r>
            <a:br>
              <a:rPr sz="1600" dirty="0"/>
            </a:br>
            <a:r>
              <a:rPr lang="en-US" sz="1600" spc="-1" dirty="0">
                <a:solidFill>
                  <a:srgbClr val="FF0000"/>
                </a:solidFill>
                <a:latin typeface="Times New Roman"/>
                <a:cs typeface="Times New Roman"/>
              </a:rPr>
              <a:t>An Explainable Deep Learning Framework For Diabetic Retinopathy Severity Grading</a:t>
            </a:r>
            <a:endParaRPr lang="en-US" dirty="0"/>
          </a:p>
        </p:txBody>
      </p:sp>
      <p:sp>
        <p:nvSpPr>
          <p:cNvPr id="67" name="Google Shape;56;p1"/>
          <p:cNvSpPr/>
          <p:nvPr/>
        </p:nvSpPr>
        <p:spPr>
          <a:xfrm>
            <a:off x="746380" y="3077150"/>
            <a:ext cx="7650879" cy="150665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US" sz="1400" b="0" strike="noStrike" spc="-1" dirty="0">
                <a:solidFill>
                  <a:srgbClr val="000000"/>
                </a:solidFill>
                <a:latin typeface="Times New Roman"/>
                <a:ea typeface="Times New Roman"/>
              </a:rPr>
              <a:t>                    </a:t>
            </a:r>
            <a:endParaRPr lang="en-IN" sz="1400" b="0" strike="noStrike" spc="-1" dirty="0">
              <a:solidFill>
                <a:srgbClr val="000000"/>
              </a:solidFill>
              <a:latin typeface="Arial"/>
            </a:endParaRPr>
          </a:p>
          <a:p>
            <a:pPr>
              <a:tabLst>
                <a:tab pos="0" algn="l"/>
              </a:tabLst>
            </a:pPr>
            <a:r>
              <a:rPr lang="en-US" sz="1400" spc="-1" dirty="0">
                <a:solidFill>
                  <a:srgbClr val="000000"/>
                </a:solidFill>
                <a:latin typeface="Times New Roman"/>
                <a:ea typeface="Times New Roman"/>
              </a:rPr>
              <a:t>			</a:t>
            </a:r>
            <a:endParaRPr lang="en-IN" sz="1600" spc="-1" dirty="0">
              <a:solidFill>
                <a:srgbClr val="000000"/>
              </a:solidFill>
              <a:latin typeface="Arial"/>
              <a:ea typeface="Times New Roman"/>
              <a:cs typeface="Arial"/>
            </a:endParaRPr>
          </a:p>
          <a:p>
            <a:pPr algn="ctr">
              <a:tabLst>
                <a:tab pos="0" algn="l"/>
              </a:tabLst>
            </a:pPr>
            <a:r>
              <a:rPr lang="en-US" sz="1400" b="0" strike="noStrike" spc="-1" dirty="0">
                <a:solidFill>
                  <a:srgbClr val="000000"/>
                </a:solidFill>
                <a:latin typeface="Times New Roman"/>
                <a:ea typeface="Times New Roman"/>
              </a:rPr>
              <a:t>Under the Guidance of</a:t>
            </a:r>
            <a:endParaRPr lang="en-IN" sz="1400" b="0" strike="noStrike" spc="-1" dirty="0">
              <a:solidFill>
                <a:srgbClr val="000000"/>
              </a:solidFill>
              <a:latin typeface="Arial"/>
              <a:cs typeface="Arial"/>
            </a:endParaRPr>
          </a:p>
          <a:p>
            <a:pPr algn="ctr">
              <a:lnSpc>
                <a:spcPct val="100000"/>
              </a:lnSpc>
              <a:tabLst>
                <a:tab pos="0" algn="l"/>
              </a:tabLst>
            </a:pPr>
            <a:r>
              <a:rPr lang="en-US" spc="-1" dirty="0">
                <a:solidFill>
                  <a:srgbClr val="FF0000"/>
                </a:solidFill>
                <a:latin typeface="Times New Roman"/>
                <a:ea typeface="Times New Roman"/>
                <a:cs typeface="Times New Roman"/>
              </a:rPr>
              <a:t>Mr. P. Babu</a:t>
            </a:r>
          </a:p>
          <a:p>
            <a:pPr algn="ctr">
              <a:lnSpc>
                <a:spcPct val="100000"/>
              </a:lnSpc>
              <a:tabLst>
                <a:tab pos="0" algn="l"/>
              </a:tabLst>
            </a:pPr>
            <a:r>
              <a:rPr lang="en-US" sz="1400" spc="-1" dirty="0">
                <a:solidFill>
                  <a:srgbClr val="FF0000"/>
                </a:solidFill>
                <a:latin typeface="Times New Roman"/>
              </a:rPr>
              <a:t>Assistant</a:t>
            </a:r>
            <a:r>
              <a:rPr lang="en-US" sz="1400" b="0" strike="noStrike" spc="-1" dirty="0">
                <a:solidFill>
                  <a:srgbClr val="FF0000"/>
                </a:solidFill>
                <a:latin typeface="Times New Roman"/>
              </a:rPr>
              <a:t> Professor</a:t>
            </a:r>
            <a:r>
              <a:rPr lang="en-US" b="0" strike="noStrike" spc="-1" dirty="0">
                <a:solidFill>
                  <a:srgbClr val="FF0000"/>
                </a:solidFill>
                <a:latin typeface="Times New Roman"/>
              </a:rPr>
              <a:t> </a:t>
            </a:r>
            <a:endParaRPr lang="en-IN" sz="1400" b="0" strike="noStrike" spc="-1" dirty="0">
              <a:solidFill>
                <a:srgbClr val="000000"/>
              </a:solidFill>
              <a:latin typeface="Arial"/>
            </a:endParaRPr>
          </a:p>
          <a:p>
            <a:pPr algn="ctr">
              <a:lnSpc>
                <a:spcPct val="100000"/>
              </a:lnSpc>
              <a:tabLst>
                <a:tab pos="0" algn="l"/>
              </a:tabLst>
            </a:pPr>
            <a:r>
              <a:rPr lang="en-US" sz="1400" b="0" strike="noStrike" spc="-1" dirty="0">
                <a:solidFill>
                  <a:srgbClr val="000000"/>
                </a:solidFill>
                <a:latin typeface="Times New Roman"/>
                <a:ea typeface="Times New Roman"/>
              </a:rPr>
              <a:t>Department of Computer Science &amp; Engineering-Artificial Intelligence and Machine Learning</a:t>
            </a:r>
            <a:endParaRPr lang="en-IN" sz="1400" b="0" strike="noStrike" spc="-1" dirty="0">
              <a:solidFill>
                <a:srgbClr val="000000"/>
              </a:solidFill>
              <a:latin typeface="Arial"/>
            </a:endParaRPr>
          </a:p>
        </p:txBody>
      </p:sp>
      <p:sp>
        <p:nvSpPr>
          <p:cNvPr id="68" name="Google Shape;57;p1"/>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US" sz="1400" b="0" strike="noStrike" spc="-1">
              <a:solidFill>
                <a:schemeClr val="bg1">
                  <a:lumMod val="10000"/>
                </a:schemeClr>
              </a:solidFill>
              <a:latin typeface="Times New Roman"/>
              <a:cs typeface="Times New Roman"/>
            </a:endParaRPr>
          </a:p>
        </p:txBody>
      </p:sp>
      <p:sp>
        <p:nvSpPr>
          <p:cNvPr id="69" name="Google Shape;58;p1"/>
          <p:cNvSpPr/>
          <p:nvPr/>
        </p:nvSpPr>
        <p:spPr>
          <a:xfrm>
            <a:off x="7785000" y="4553640"/>
            <a:ext cx="940786"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a:solidFill>
                  <a:srgbClr val="000000"/>
                </a:solidFill>
                <a:latin typeface="Arial"/>
                <a:ea typeface="Arial"/>
              </a:rPr>
              <a:t>Slide 1</a:t>
            </a:r>
            <a:endParaRPr lang="en-IN" sz="1800" b="0" strike="noStrike" spc="-1">
              <a:solidFill>
                <a:srgbClr val="000000"/>
              </a:solidFill>
              <a:latin typeface="Arial"/>
            </a:endParaRPr>
          </a:p>
        </p:txBody>
      </p:sp>
      <p:graphicFrame>
        <p:nvGraphicFramePr>
          <p:cNvPr id="2" name="Table 1">
            <a:extLst>
              <a:ext uri="{FF2B5EF4-FFF2-40B4-BE49-F238E27FC236}">
                <a16:creationId xmlns:a16="http://schemas.microsoft.com/office/drawing/2014/main" id="{FEB55ACE-5669-8A85-565B-51CAD7A6DC49}"/>
              </a:ext>
            </a:extLst>
          </p:cNvPr>
          <p:cNvGraphicFramePr>
            <a:graphicFrameLocks noGrp="1"/>
          </p:cNvGraphicFramePr>
          <p:nvPr>
            <p:extLst>
              <p:ext uri="{D42A27DB-BD31-4B8C-83A1-F6EECF244321}">
                <p14:modId xmlns:p14="http://schemas.microsoft.com/office/powerpoint/2010/main" val="1745186465"/>
              </p:ext>
            </p:extLst>
          </p:nvPr>
        </p:nvGraphicFramePr>
        <p:xfrm>
          <a:off x="1827944" y="1791428"/>
          <a:ext cx="5249578" cy="1701797"/>
        </p:xfrm>
        <a:graphic>
          <a:graphicData uri="http://schemas.openxmlformats.org/drawingml/2006/table">
            <a:tbl>
              <a:tblPr firstRow="1" bandRow="1">
                <a:tableStyleId>{2D5ABB26-0587-4C30-8999-92F81FD0307C}</a:tableStyleId>
              </a:tblPr>
              <a:tblGrid>
                <a:gridCol w="2624789">
                  <a:extLst>
                    <a:ext uri="{9D8B030D-6E8A-4147-A177-3AD203B41FA5}">
                      <a16:colId xmlns:a16="http://schemas.microsoft.com/office/drawing/2014/main" val="3859446392"/>
                    </a:ext>
                  </a:extLst>
                </a:gridCol>
                <a:gridCol w="2624789">
                  <a:extLst>
                    <a:ext uri="{9D8B030D-6E8A-4147-A177-3AD203B41FA5}">
                      <a16:colId xmlns:a16="http://schemas.microsoft.com/office/drawing/2014/main" val="2416112607"/>
                    </a:ext>
                  </a:extLst>
                </a:gridCol>
              </a:tblGrid>
              <a:tr h="205122">
                <a:tc>
                  <a:txBody>
                    <a:bodyPr/>
                    <a:lstStyle/>
                    <a:p>
                      <a:pPr algn="r"/>
                      <a:r>
                        <a:rPr lang="en-US" sz="1500" dirty="0">
                          <a:solidFill>
                            <a:srgbClr val="FF0000"/>
                          </a:solidFill>
                          <a:latin typeface="Times New Roman"/>
                          <a:cs typeface="Times New Roman"/>
                        </a:rPr>
                        <a:t>23R21A66F3</a:t>
                      </a:r>
                      <a:endParaRPr lang="en-IN" sz="15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IN" sz="1500" dirty="0">
                          <a:solidFill>
                            <a:srgbClr val="FF0000"/>
                          </a:solidFill>
                          <a:latin typeface="Times New Roman"/>
                          <a:cs typeface="Times New Roman"/>
                        </a:rPr>
                        <a:t>- J Pravalika</a:t>
                      </a:r>
                      <a:endParaRPr lang="en-IN" sz="15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4490516"/>
                  </a:ext>
                </a:extLst>
              </a:tr>
              <a:tr h="204278">
                <a:tc>
                  <a:txBody>
                    <a:bodyPr/>
                    <a:lstStyle/>
                    <a:p>
                      <a:pPr algn="r"/>
                      <a:r>
                        <a:rPr lang="en-US" sz="1500" dirty="0">
                          <a:solidFill>
                            <a:srgbClr val="FF0000"/>
                          </a:solidFill>
                          <a:latin typeface="Times New Roman"/>
                          <a:cs typeface="Times New Roman"/>
                        </a:rPr>
                        <a:t>23R21A66F0</a:t>
                      </a:r>
                      <a:endParaRPr lang="en-IN" sz="15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IN" sz="1500" dirty="0">
                          <a:solidFill>
                            <a:srgbClr val="FF0000"/>
                          </a:solidFill>
                          <a:latin typeface="Times New Roman"/>
                          <a:cs typeface="Times New Roman"/>
                        </a:rPr>
                        <a:t>- G Bala Sainath Reddy</a:t>
                      </a:r>
                    </a:p>
                  </a:txBody>
                  <a:tcPr/>
                </a:tc>
                <a:extLst>
                  <a:ext uri="{0D108BD9-81ED-4DB2-BD59-A6C34878D82A}">
                    <a16:rowId xmlns:a16="http://schemas.microsoft.com/office/drawing/2014/main" val="2107859931"/>
                  </a:ext>
                </a:extLst>
              </a:tr>
              <a:tr h="0">
                <a:tc>
                  <a:txBody>
                    <a:bodyPr/>
                    <a:lstStyle/>
                    <a:p>
                      <a:pPr algn="r"/>
                      <a:r>
                        <a:rPr lang="en-US" sz="1500" dirty="0">
                          <a:solidFill>
                            <a:srgbClr val="FF0000"/>
                          </a:solidFill>
                          <a:latin typeface="Times New Roman"/>
                          <a:cs typeface="Times New Roman"/>
                        </a:rPr>
                        <a:t>23R21A66F7</a:t>
                      </a:r>
                      <a:endParaRPr lang="en-IN" sz="15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IN" sz="1500" dirty="0">
                          <a:solidFill>
                            <a:srgbClr val="FF0000"/>
                          </a:solidFill>
                          <a:latin typeface="Times New Roman"/>
                          <a:cs typeface="Times New Roman"/>
                        </a:rPr>
                        <a:t>- K Angel</a:t>
                      </a:r>
                      <a:endParaRPr lang="en-IN" sz="15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2749222"/>
                  </a:ext>
                </a:extLst>
              </a:tr>
              <a:tr h="370839">
                <a:tc>
                  <a:txBody>
                    <a:bodyPr/>
                    <a:lstStyle/>
                    <a:p>
                      <a:pPr algn="r"/>
                      <a:r>
                        <a:rPr lang="en-IN" sz="1500" dirty="0">
                          <a:solidFill>
                            <a:srgbClr val="FF0000"/>
                          </a:solidFill>
                          <a:latin typeface="Times New Roman"/>
                          <a:cs typeface="Times New Roman"/>
                        </a:rPr>
                        <a:t>23R21A66H6</a:t>
                      </a:r>
                      <a:endParaRPr lang="en-IN" sz="15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IN" sz="1500" dirty="0">
                          <a:solidFill>
                            <a:srgbClr val="FF0000"/>
                          </a:solidFill>
                          <a:latin typeface="Times New Roman"/>
                          <a:cs typeface="Times New Roman"/>
                        </a:rPr>
                        <a:t>- R Ram Charan</a:t>
                      </a:r>
                    </a:p>
                  </a:txBody>
                  <a:tcPr/>
                </a:tc>
                <a:extLst>
                  <a:ext uri="{0D108BD9-81ED-4DB2-BD59-A6C34878D82A}">
                    <a16:rowId xmlns:a16="http://schemas.microsoft.com/office/drawing/2014/main" val="4294626263"/>
                  </a:ext>
                </a:extLst>
              </a:tr>
              <a:tr h="370838">
                <a:tc>
                  <a:txBody>
                    <a:bodyPr/>
                    <a:lstStyle/>
                    <a:p>
                      <a:pPr lvl="0" algn="r">
                        <a:buNone/>
                      </a:pPr>
                      <a:r>
                        <a:rPr lang="en-IN" sz="1500" dirty="0">
                          <a:solidFill>
                            <a:srgbClr val="FF0000"/>
                          </a:solidFill>
                          <a:latin typeface="Times New Roman"/>
                          <a:cs typeface="Times New Roman"/>
                        </a:rPr>
                        <a:t>23R21A66K1</a:t>
                      </a:r>
                    </a:p>
                  </a:txBody>
                  <a:tcPr/>
                </a:tc>
                <a:tc>
                  <a:txBody>
                    <a:bodyPr/>
                    <a:lstStyle/>
                    <a:p>
                      <a:pPr marL="0" lvl="0" indent="0">
                        <a:buNone/>
                      </a:pPr>
                      <a:r>
                        <a:rPr lang="en-IN" sz="1500" dirty="0">
                          <a:solidFill>
                            <a:srgbClr val="FF0000"/>
                          </a:solidFill>
                          <a:latin typeface="Times New Roman"/>
                          <a:cs typeface="Times New Roman"/>
                        </a:rPr>
                        <a:t>-Y Karthik</a:t>
                      </a:r>
                    </a:p>
                  </a:txBody>
                  <a:tcPr/>
                </a:tc>
                <a:extLst>
                  <a:ext uri="{0D108BD9-81ED-4DB2-BD59-A6C34878D82A}">
                    <a16:rowId xmlns:a16="http://schemas.microsoft.com/office/drawing/2014/main" val="1089373563"/>
                  </a:ext>
                </a:extLst>
              </a:tr>
            </a:tbl>
          </a:graphicData>
        </a:graphic>
      </p:graphicFrame>
      <p:pic>
        <p:nvPicPr>
          <p:cNvPr id="3" name="Picture 2">
            <a:extLst>
              <a:ext uri="{FF2B5EF4-FFF2-40B4-BE49-F238E27FC236}">
                <a16:creationId xmlns:a16="http://schemas.microsoft.com/office/drawing/2014/main" id="{FEEFFAE1-F736-45A8-A3F0-F501857FA1C7}"/>
              </a:ext>
            </a:extLst>
          </p:cNvPr>
          <p:cNvPicPr>
            <a:picLocks noChangeAspect="1"/>
          </p:cNvPicPr>
          <p:nvPr/>
        </p:nvPicPr>
        <p:blipFill>
          <a:blip r:embed="rId3"/>
          <a:stretch>
            <a:fillRect/>
          </a:stretch>
        </p:blipFill>
        <p:spPr>
          <a:xfrm>
            <a:off x="220439" y="166181"/>
            <a:ext cx="1355522" cy="3371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Google Shape;63;p2"/>
          <p:cNvSpPr/>
          <p:nvPr/>
        </p:nvSpPr>
        <p:spPr>
          <a:xfrm>
            <a:off x="2734940" y="209890"/>
            <a:ext cx="3560040" cy="8319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90000"/>
              </a:lnSpc>
              <a:tabLst>
                <a:tab pos="0" algn="l"/>
              </a:tabLst>
            </a:pPr>
            <a:r>
              <a:rPr lang="en-US" sz="4000" b="0" strike="noStrike" spc="-1">
                <a:solidFill>
                  <a:schemeClr val="dk1"/>
                </a:solidFill>
                <a:latin typeface="Noto Serif Ethiopic"/>
                <a:ea typeface="Noto Serif Ethiopic"/>
              </a:rPr>
              <a:t>Contents</a:t>
            </a:r>
            <a:endParaRPr lang="en-IN" sz="4000" b="0" strike="noStrike" spc="-1">
              <a:solidFill>
                <a:srgbClr val="000000"/>
              </a:solidFill>
              <a:latin typeface="Arial"/>
            </a:endParaRPr>
          </a:p>
        </p:txBody>
      </p:sp>
      <p:sp>
        <p:nvSpPr>
          <p:cNvPr id="72" name="Google Shape;65;p2"/>
          <p:cNvSpPr/>
          <p:nvPr/>
        </p:nvSpPr>
        <p:spPr>
          <a:xfrm>
            <a:off x="898200" y="560517"/>
            <a:ext cx="5587500" cy="64008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85840" indent="-285840">
              <a:lnSpc>
                <a:spcPct val="150000"/>
              </a:lnSpc>
              <a:buClr>
                <a:srgbClr val="000000"/>
              </a:buClr>
              <a:buFont typeface="Arial"/>
              <a:buChar char="•"/>
            </a:pPr>
            <a:r>
              <a:rPr lang="en-US" sz="1375" spc="-1" dirty="0">
                <a:solidFill>
                  <a:srgbClr val="FF0000"/>
                </a:solidFill>
                <a:latin typeface="Times New Roman" panose="02020603050405020304" pitchFamily="18" charset="0"/>
                <a:cs typeface="Times New Roman" pitchFamily="18" charset="0"/>
              </a:rPr>
              <a:t>Work Division</a:t>
            </a:r>
            <a:endParaRPr lang="en-US" sz="1375" b="0" strike="noStrike" spc="-1" dirty="0">
              <a:solidFill>
                <a:srgbClr val="FF0000"/>
              </a:solidFill>
              <a:latin typeface="Times New Roman" panose="02020603050405020304" pitchFamily="18" charset="0"/>
              <a:cs typeface="Times New Roman" pitchFamily="18" charset="0"/>
            </a:endParaRPr>
          </a:p>
          <a:p>
            <a:pPr marL="285840" indent="-285840">
              <a:lnSpc>
                <a:spcPct val="150000"/>
              </a:lnSpc>
              <a:buClr>
                <a:srgbClr val="000000"/>
              </a:buClr>
              <a:buFont typeface="Arial"/>
              <a:buChar char="•"/>
            </a:pPr>
            <a:r>
              <a:rPr lang="en-US" sz="1375" b="0" strike="noStrike" spc="-1" dirty="0">
                <a:solidFill>
                  <a:srgbClr val="FF0000"/>
                </a:solidFill>
                <a:latin typeface="Times New Roman" panose="02020603050405020304" pitchFamily="18" charset="0"/>
                <a:cs typeface="Times New Roman" pitchFamily="18" charset="0"/>
              </a:rPr>
              <a:t>Introduction</a:t>
            </a:r>
            <a:endParaRPr lang="en-IN" sz="1375" b="0" strike="noStrike" spc="-1" dirty="0">
              <a:solidFill>
                <a:srgbClr val="FF0000"/>
              </a:solidFill>
              <a:latin typeface="Times New Roman" panose="02020603050405020304" pitchFamily="18" charset="0"/>
              <a:cs typeface="Times New Roman" pitchFamily="18" charset="0"/>
            </a:endParaRPr>
          </a:p>
          <a:p>
            <a:pPr marL="285840" indent="-285840">
              <a:lnSpc>
                <a:spcPct val="150000"/>
              </a:lnSpc>
              <a:buClr>
                <a:srgbClr val="000000"/>
              </a:buClr>
              <a:buFont typeface="Arial"/>
              <a:buChar char="•"/>
            </a:pPr>
            <a:r>
              <a:rPr lang="en-US" sz="1375" spc="-1" dirty="0">
                <a:solidFill>
                  <a:srgbClr val="FF0000"/>
                </a:solidFill>
                <a:latin typeface="Times New Roman" panose="02020603050405020304" pitchFamily="18" charset="0"/>
                <a:ea typeface="Times New Roman"/>
                <a:cs typeface="Times New Roman" pitchFamily="18" charset="0"/>
              </a:rPr>
              <a:t>Abstract</a:t>
            </a:r>
          </a:p>
          <a:p>
            <a:pPr marL="285840" indent="-285840">
              <a:lnSpc>
                <a:spcPct val="150000"/>
              </a:lnSpc>
              <a:buClr>
                <a:srgbClr val="000000"/>
              </a:buClr>
              <a:buFont typeface="Arial"/>
              <a:buChar char="•"/>
            </a:pPr>
            <a:r>
              <a:rPr lang="en-US" sz="1375" b="0" strike="noStrike" spc="-1" dirty="0">
                <a:solidFill>
                  <a:srgbClr val="FF0000"/>
                </a:solidFill>
                <a:latin typeface="Times New Roman" panose="02020603050405020304" pitchFamily="18" charset="0"/>
                <a:ea typeface="Times New Roman"/>
                <a:cs typeface="Times New Roman" pitchFamily="18" charset="0"/>
              </a:rPr>
              <a:t>Literature Survey</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Objectives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Existing Systems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Disadvantages of the Existing Systems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Proposed Methodology</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Advantages of Proposed Methodology</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Datasets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Hardware &amp; Software Requirements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Implementation and Results</a:t>
            </a:r>
          </a:p>
          <a:p>
            <a:pPr marL="285840" indent="-285840">
              <a:lnSpc>
                <a:spcPct val="150000"/>
              </a:lnSpc>
              <a:buClr>
                <a:srgbClr val="000000"/>
              </a:buClr>
              <a:buFont typeface="Arial"/>
              <a:buChar char="•"/>
            </a:pPr>
            <a:r>
              <a:rPr lang="en-US" sz="1375" spc="-1" dirty="0">
                <a:solidFill>
                  <a:srgbClr val="FF0000"/>
                </a:solidFill>
                <a:latin typeface="Times New Roman" pitchFamily="18" charset="0"/>
                <a:ea typeface="Times New Roman"/>
                <a:cs typeface="Times New Roman" pitchFamily="18" charset="0"/>
              </a:rPr>
              <a:t>References</a:t>
            </a:r>
          </a:p>
          <a:p>
            <a:pPr marL="285840" indent="-285840">
              <a:lnSpc>
                <a:spcPct val="150000"/>
              </a:lnSpc>
              <a:buClr>
                <a:srgbClr val="000000"/>
              </a:buClr>
              <a:buFont typeface="Arial"/>
              <a:buChar char="•"/>
            </a:pPr>
            <a:endParaRPr lang="en-IN" sz="1375" spc="-1" dirty="0">
              <a:solidFill>
                <a:srgbClr val="FF0000"/>
              </a:solidFill>
              <a:latin typeface="Times New Roman" panose="02020603050405020304" pitchFamily="18" charset="0"/>
              <a:ea typeface="Times New Roman"/>
              <a:cs typeface="Times New Roman" pitchFamily="18" charset="0"/>
            </a:endParaRPr>
          </a:p>
          <a:p>
            <a:pPr marL="285840" indent="-285840">
              <a:lnSpc>
                <a:spcPct val="150000"/>
              </a:lnSpc>
              <a:buClr>
                <a:srgbClr val="000000"/>
              </a:buClr>
              <a:buFont typeface="Arial"/>
              <a:buChar char="•"/>
            </a:pPr>
            <a:endParaRPr lang="en-IN" sz="1375" b="0" strike="noStrike" spc="-1" dirty="0">
              <a:solidFill>
                <a:srgbClr val="FF0000"/>
              </a:solidFill>
              <a:latin typeface="Times New Roman" pitchFamily="18" charset="0"/>
              <a:cs typeface="Times New Roman" pitchFamily="18" charset="0"/>
            </a:endParaRPr>
          </a:p>
          <a:p>
            <a:pPr marL="285840" indent="-285840">
              <a:lnSpc>
                <a:spcPct val="150000"/>
              </a:lnSpc>
              <a:buClr>
                <a:srgbClr val="000000"/>
              </a:buClr>
              <a:buFont typeface="Arial"/>
              <a:buChar char="•"/>
            </a:pPr>
            <a:endParaRPr lang="en-IN" sz="1375" b="0" strike="noStrike" spc="-1" dirty="0">
              <a:solidFill>
                <a:srgbClr val="FF0000"/>
              </a:solidFill>
              <a:latin typeface="Times New Roman" pitchFamily="18" charset="0"/>
              <a:cs typeface="Times New Roman" pitchFamily="18" charset="0"/>
            </a:endParaRPr>
          </a:p>
          <a:p>
            <a:pPr marL="285840" indent="-285840">
              <a:lnSpc>
                <a:spcPct val="150000"/>
              </a:lnSpc>
              <a:buClr>
                <a:srgbClr val="000000"/>
              </a:buClr>
              <a:buFont typeface="Arial"/>
              <a:buChar char="•"/>
            </a:pPr>
            <a:endParaRPr lang="en-IN" sz="1375" b="0" strike="noStrike" spc="-1" dirty="0">
              <a:solidFill>
                <a:srgbClr val="FF0000"/>
              </a:solidFill>
              <a:latin typeface="Times New Roman" pitchFamily="18" charset="0"/>
              <a:cs typeface="Times New Roman" pitchFamily="18" charset="0"/>
            </a:endParaRPr>
          </a:p>
          <a:p>
            <a:pPr marL="285840" indent="-285840">
              <a:lnSpc>
                <a:spcPct val="150000"/>
              </a:lnSpc>
              <a:buClr>
                <a:srgbClr val="000000"/>
              </a:buClr>
              <a:buFont typeface="Arial"/>
              <a:buChar char="•"/>
            </a:pPr>
            <a:endParaRPr lang="en-IN" sz="1375" b="0" strike="noStrike" spc="-1" dirty="0">
              <a:solidFill>
                <a:srgbClr val="000000"/>
              </a:solidFill>
              <a:latin typeface="Times New Roman" panose="02020603050405020304" pitchFamily="18" charset="0"/>
              <a:cs typeface="Times New Roman" panose="02020603050405020304" pitchFamily="18" charset="0"/>
            </a:endParaRPr>
          </a:p>
          <a:p>
            <a:pPr marL="285840" indent="-196920">
              <a:lnSpc>
                <a:spcPct val="150000"/>
              </a:lnSpc>
              <a:tabLst>
                <a:tab pos="0" algn="l"/>
              </a:tabLst>
            </a:pPr>
            <a:endParaRPr lang="en-IN" sz="1375" b="0" strike="noStrike" spc="-1" dirty="0">
              <a:solidFill>
                <a:srgbClr val="000000"/>
              </a:solidFill>
              <a:latin typeface="Times New Roman" panose="02020603050405020304" pitchFamily="18" charset="0"/>
              <a:cs typeface="Times New Roman" panose="02020603050405020304" pitchFamily="18" charset="0"/>
            </a:endParaRPr>
          </a:p>
          <a:p>
            <a:pPr marL="285840" indent="-203040">
              <a:lnSpc>
                <a:spcPct val="150000"/>
              </a:lnSpc>
              <a:tabLst>
                <a:tab pos="0" algn="l"/>
              </a:tabLst>
            </a:pPr>
            <a:endParaRPr lang="en-IN" sz="1375"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3" name="Google Shape;66;p2"/>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74" name="Google Shape;67;p2"/>
          <p:cNvSpPr/>
          <p:nvPr/>
        </p:nvSpPr>
        <p:spPr>
          <a:xfrm>
            <a:off x="7785000" y="4553640"/>
            <a:ext cx="9529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a:solidFill>
                  <a:srgbClr val="000000"/>
                </a:solidFill>
                <a:latin typeface="Arial"/>
                <a:ea typeface="Arial"/>
              </a:rPr>
              <a:t>Slide 2</a:t>
            </a:r>
            <a:endParaRPr lang="en-IN" sz="1800" b="0" strike="noStrike" spc="-1">
              <a:solidFill>
                <a:srgbClr val="000000"/>
              </a:solidFill>
              <a:latin typeface="Arial"/>
            </a:endParaRPr>
          </a:p>
        </p:txBody>
      </p:sp>
      <p:pic>
        <p:nvPicPr>
          <p:cNvPr id="5" name="Picture 4">
            <a:extLst>
              <a:ext uri="{FF2B5EF4-FFF2-40B4-BE49-F238E27FC236}">
                <a16:creationId xmlns:a16="http://schemas.microsoft.com/office/drawing/2014/main" id="{301A01C2-C633-979F-0098-64128F69A592}"/>
              </a:ext>
            </a:extLst>
          </p:cNvPr>
          <p:cNvPicPr>
            <a:picLocks noChangeAspect="1"/>
          </p:cNvPicPr>
          <p:nvPr/>
        </p:nvPicPr>
        <p:blipFill>
          <a:blip r:embed="rId2"/>
          <a:stretch>
            <a:fillRect/>
          </a:stretch>
        </p:blipFill>
        <p:spPr>
          <a:xfrm>
            <a:off x="220439" y="166181"/>
            <a:ext cx="1355522" cy="3371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Google Shape;82;p3"/>
          <p:cNvSpPr/>
          <p:nvPr/>
        </p:nvSpPr>
        <p:spPr>
          <a:xfrm>
            <a:off x="2567314" y="877299"/>
            <a:ext cx="4138920" cy="5299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90000"/>
              </a:lnSpc>
              <a:tabLst>
                <a:tab pos="0" algn="l"/>
              </a:tabLst>
            </a:pPr>
            <a:endParaRPr lang="en-US"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endParaRPr lang="en-US"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endParaRPr lang="en-US"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endParaRPr lang="en-US"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endParaRPr lang="en-US"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r>
              <a:rPr lang="en-US" sz="3000" spc="-1" dirty="0">
                <a:solidFill>
                  <a:srgbClr val="FF0000"/>
                </a:solidFill>
                <a:latin typeface="Times New Roman" panose="02020603050405020304" pitchFamily="18" charset="0"/>
                <a:cs typeface="Times New Roman" panose="02020603050405020304" pitchFamily="18" charset="0"/>
              </a:rPr>
              <a:t>Team Work Division</a:t>
            </a:r>
            <a:endParaRPr lang="en-IN" sz="3000" spc="-1" dirty="0">
              <a:solidFill>
                <a:srgbClr val="FF0000"/>
              </a:solidFill>
              <a:latin typeface="Times New Roman" panose="02020603050405020304" pitchFamily="18" charset="0"/>
              <a:cs typeface="Times New Roman" panose="02020603050405020304" pitchFamily="18" charset="0"/>
            </a:endParaRPr>
          </a:p>
          <a:p>
            <a:pPr algn="ctr">
              <a:lnSpc>
                <a:spcPct val="90000"/>
              </a:lnSpc>
              <a:tabLst>
                <a:tab pos="0" algn="l"/>
              </a:tabLst>
            </a:pPr>
            <a:endParaRPr lang="en-IN" sz="3600" b="0" strike="noStrike" spc="-1" dirty="0">
              <a:solidFill>
                <a:srgbClr val="FF0000"/>
              </a:solidFill>
              <a:latin typeface="Times New Roman" panose="02020603050405020304" pitchFamily="18" charset="0"/>
              <a:cs typeface="Times New Roman" panose="02020603050405020304" pitchFamily="18" charset="0"/>
            </a:endParaRPr>
          </a:p>
        </p:txBody>
      </p:sp>
      <p:sp>
        <p:nvSpPr>
          <p:cNvPr id="83" name="Google Shape;84;p3"/>
          <p:cNvSpPr/>
          <p:nvPr/>
        </p:nvSpPr>
        <p:spPr>
          <a:xfrm>
            <a:off x="684360" y="1070361"/>
            <a:ext cx="7774200" cy="336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91440" algn="just">
              <a:lnSpc>
                <a:spcPct val="150000"/>
              </a:lnSpc>
              <a:tabLst>
                <a:tab pos="0" algn="l"/>
              </a:tabLst>
            </a:pPr>
            <a:endParaRPr lang="en-IN" sz="1400" b="0" strike="noStrike" spc="-1">
              <a:solidFill>
                <a:srgbClr val="000000"/>
              </a:solidFill>
              <a:latin typeface="Arial"/>
            </a:endParaRPr>
          </a:p>
        </p:txBody>
      </p:sp>
      <p:sp>
        <p:nvSpPr>
          <p:cNvPr id="84" name="Google Shape;85;p3"/>
          <p:cNvSpPr/>
          <p:nvPr/>
        </p:nvSpPr>
        <p:spPr>
          <a:xfrm>
            <a:off x="816480" y="1973276"/>
            <a:ext cx="7363440" cy="89109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algn="just">
              <a:lnSpc>
                <a:spcPct val="150000"/>
              </a:lnSpc>
              <a:spcBef>
                <a:spcPts val="1199"/>
              </a:spcBef>
              <a:tabLst>
                <a:tab pos="0" algn="l"/>
              </a:tabLst>
            </a:pPr>
            <a:endParaRPr lang="en-IN" sz="1400" b="0" strike="noStrike" spc="-1">
              <a:solidFill>
                <a:srgbClr val="000000"/>
              </a:solidFill>
              <a:latin typeface="Arial"/>
            </a:endParaRPr>
          </a:p>
          <a:p>
            <a:pPr marL="457200" algn="just">
              <a:lnSpc>
                <a:spcPct val="150000"/>
              </a:lnSpc>
              <a:spcBef>
                <a:spcPts val="1199"/>
              </a:spcBef>
              <a:tabLst>
                <a:tab pos="0" algn="l"/>
              </a:tabLst>
            </a:pPr>
            <a:endParaRPr lang="en-IN" sz="1400" b="0" strike="noStrike" spc="-1">
              <a:solidFill>
                <a:srgbClr val="000000"/>
              </a:solidFill>
              <a:latin typeface="Arial"/>
            </a:endParaRPr>
          </a:p>
        </p:txBody>
      </p:sp>
      <p:sp>
        <p:nvSpPr>
          <p:cNvPr id="85" name="Google Shape;86;p3"/>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86" name="Google Shape;87;p3"/>
          <p:cNvSpPr/>
          <p:nvPr/>
        </p:nvSpPr>
        <p:spPr>
          <a:xfrm>
            <a:off x="7785000" y="4553640"/>
            <a:ext cx="95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a:solidFill>
                  <a:srgbClr val="000000"/>
                </a:solidFill>
                <a:latin typeface="Arial"/>
                <a:ea typeface="Arial"/>
              </a:rPr>
              <a:t>Slide 3</a:t>
            </a:r>
            <a:endParaRPr lang="en-IN" sz="1800" b="0" strike="noStrike" spc="-1">
              <a:solidFill>
                <a:srgbClr val="000000"/>
              </a:solidFill>
              <a:latin typeface="Arial"/>
            </a:endParaRPr>
          </a:p>
        </p:txBody>
      </p:sp>
      <p:sp>
        <p:nvSpPr>
          <p:cNvPr id="4" name="Rectangle 2">
            <a:extLst>
              <a:ext uri="{FF2B5EF4-FFF2-40B4-BE49-F238E27FC236}">
                <a16:creationId xmlns:a16="http://schemas.microsoft.com/office/drawing/2014/main" id="{E3DCB6CA-DE5D-E3A9-BF96-93535687C122}"/>
              </a:ext>
            </a:extLst>
          </p:cNvPr>
          <p:cNvSpPr>
            <a:spLocks noChangeArrowheads="1"/>
          </p:cNvSpPr>
          <p:nvPr/>
        </p:nvSpPr>
        <p:spPr bwMode="auto">
          <a:xfrm rot="10800000" flipV="1">
            <a:off x="522513" y="2591564"/>
            <a:ext cx="7985089"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n-IN" sz="1650" dirty="0">
              <a:solidFill>
                <a:srgbClr val="000000"/>
              </a:solidFill>
              <a:latin typeface="Times New Roman"/>
              <a:cs typeface="Times New Roman"/>
            </a:endParaRPr>
          </a:p>
        </p:txBody>
      </p:sp>
      <p:pic>
        <p:nvPicPr>
          <p:cNvPr id="5" name="Picture 4">
            <a:extLst>
              <a:ext uri="{FF2B5EF4-FFF2-40B4-BE49-F238E27FC236}">
                <a16:creationId xmlns:a16="http://schemas.microsoft.com/office/drawing/2014/main" id="{14724984-7781-2DB2-7775-5A4DC35CCBFF}"/>
              </a:ext>
            </a:extLst>
          </p:cNvPr>
          <p:cNvPicPr>
            <a:picLocks noChangeAspect="1"/>
          </p:cNvPicPr>
          <p:nvPr/>
        </p:nvPicPr>
        <p:blipFill>
          <a:blip r:embed="rId2"/>
          <a:stretch>
            <a:fillRect/>
          </a:stretch>
        </p:blipFill>
        <p:spPr>
          <a:xfrm>
            <a:off x="220439" y="166181"/>
            <a:ext cx="1355522" cy="337186"/>
          </a:xfrm>
          <a:prstGeom prst="rect">
            <a:avLst/>
          </a:prstGeom>
        </p:spPr>
      </p:pic>
      <p:graphicFrame>
        <p:nvGraphicFramePr>
          <p:cNvPr id="2" name="Table 1">
            <a:extLst>
              <a:ext uri="{FF2B5EF4-FFF2-40B4-BE49-F238E27FC236}">
                <a16:creationId xmlns:a16="http://schemas.microsoft.com/office/drawing/2014/main" id="{3DA66120-9CCB-207B-8087-E460F2A43BE3}"/>
              </a:ext>
            </a:extLst>
          </p:cNvPr>
          <p:cNvGraphicFramePr>
            <a:graphicFrameLocks noGrp="1"/>
          </p:cNvGraphicFramePr>
          <p:nvPr>
            <p:extLst>
              <p:ext uri="{D42A27DB-BD31-4B8C-83A1-F6EECF244321}">
                <p14:modId xmlns:p14="http://schemas.microsoft.com/office/powerpoint/2010/main" val="1363587907"/>
              </p:ext>
            </p:extLst>
          </p:nvPr>
        </p:nvGraphicFramePr>
        <p:xfrm>
          <a:off x="1338943" y="1046708"/>
          <a:ext cx="6840977" cy="3175000"/>
        </p:xfrm>
        <a:graphic>
          <a:graphicData uri="http://schemas.openxmlformats.org/drawingml/2006/table">
            <a:tbl>
              <a:tblPr firstRow="1" bandRow="1">
                <a:tableStyleId>{5C22544A-7EE6-4342-B048-85BDC9FD1C3A}</a:tableStyleId>
              </a:tblPr>
              <a:tblGrid>
                <a:gridCol w="1512175">
                  <a:extLst>
                    <a:ext uri="{9D8B030D-6E8A-4147-A177-3AD203B41FA5}">
                      <a16:colId xmlns:a16="http://schemas.microsoft.com/office/drawing/2014/main" val="3691696296"/>
                    </a:ext>
                  </a:extLst>
                </a:gridCol>
                <a:gridCol w="1769868">
                  <a:extLst>
                    <a:ext uri="{9D8B030D-6E8A-4147-A177-3AD203B41FA5}">
                      <a16:colId xmlns:a16="http://schemas.microsoft.com/office/drawing/2014/main" val="1748491182"/>
                    </a:ext>
                  </a:extLst>
                </a:gridCol>
                <a:gridCol w="3558934">
                  <a:extLst>
                    <a:ext uri="{9D8B030D-6E8A-4147-A177-3AD203B41FA5}">
                      <a16:colId xmlns:a16="http://schemas.microsoft.com/office/drawing/2014/main" val="401855735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i="0" u="none" strike="noStrike" kern="1200" cap="none" normalizeH="0" baseline="0" dirty="0">
                          <a:ln>
                            <a:noFill/>
                          </a:ln>
                          <a:solidFill>
                            <a:schemeClr val="tx2"/>
                          </a:solidFill>
                          <a:effectLst/>
                          <a:latin typeface="Times New Roman" panose="02020603050405020304" pitchFamily="18" charset="0"/>
                          <a:ea typeface="+mn-ea"/>
                          <a:cs typeface="Times New Roman" panose="02020603050405020304" pitchFamily="18" charset="0"/>
                        </a:rPr>
                        <a:t>Member</a:t>
                      </a:r>
                    </a:p>
                  </a:txBody>
                  <a:tcPr/>
                </a:tc>
                <a:tc>
                  <a:txBody>
                    <a:bodyPr/>
                    <a:lstStyle/>
                    <a:p>
                      <a:pPr algn="l"/>
                      <a:r>
                        <a:rPr lang="en-US" sz="1400" dirty="0">
                          <a:solidFill>
                            <a:schemeClr val="tx2"/>
                          </a:solidFill>
                          <a:latin typeface="Times New Roman" panose="02020603050405020304" pitchFamily="18" charset="0"/>
                          <a:cs typeface="Times New Roman" panose="02020603050405020304" pitchFamily="18" charset="0"/>
                        </a:rPr>
                        <a:t>Area</a:t>
                      </a:r>
                      <a:endParaRPr lang="en-IN" sz="14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normalizeH="0" baseline="0" dirty="0">
                          <a:ln>
                            <a:noFill/>
                          </a:ln>
                          <a:solidFill>
                            <a:schemeClr val="tx2"/>
                          </a:solidFill>
                          <a:effectLst/>
                          <a:latin typeface="Times New Roman" panose="02020603050405020304" pitchFamily="18" charset="0"/>
                          <a:ea typeface="+mn-ea"/>
                          <a:cs typeface="Times New Roman" panose="02020603050405020304" pitchFamily="18" charset="0"/>
                        </a:rPr>
                        <a:t>Main Responsibilities</a:t>
                      </a:r>
                    </a:p>
                  </a:txBody>
                  <a:tcPr/>
                </a:tc>
                <a:extLst>
                  <a:ext uri="{0D108BD9-81ED-4DB2-BD59-A6C34878D82A}">
                    <a16:rowId xmlns:a16="http://schemas.microsoft.com/office/drawing/2014/main" val="67309773"/>
                  </a:ext>
                </a:extLst>
              </a:tr>
              <a:tr h="370840">
                <a:tc>
                  <a:txBody>
                    <a:bodyPr/>
                    <a:lstStyle/>
                    <a:p>
                      <a:pPr algn="l"/>
                      <a:r>
                        <a:rPr lang="en-US" sz="1400" dirty="0">
                          <a:solidFill>
                            <a:schemeClr val="accent2"/>
                          </a:solidFill>
                          <a:latin typeface="Times New Roman" panose="02020603050405020304" pitchFamily="18" charset="0"/>
                          <a:cs typeface="Times New Roman" panose="02020603050405020304" pitchFamily="18" charset="0"/>
                        </a:rPr>
                        <a:t>R. Ram Charan</a:t>
                      </a:r>
                    </a:p>
                    <a:p>
                      <a:pPr algn="l"/>
                      <a:r>
                        <a:rPr lang="en-US" sz="1400" dirty="0">
                          <a:solidFill>
                            <a:schemeClr val="accent2"/>
                          </a:solidFill>
                          <a:latin typeface="Times New Roman" panose="02020603050405020304" pitchFamily="18" charset="0"/>
                          <a:cs typeface="Times New Roman" panose="02020603050405020304" pitchFamily="18" charset="0"/>
                        </a:rPr>
                        <a:t>(23R21A66H6)</a:t>
                      </a:r>
                      <a:endParaRPr lang="en-IN" sz="1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Research &amp; Dataset collection</a:t>
                      </a: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Literature survey, research gap, clinical dataset study and dataset organization</a:t>
                      </a:r>
                    </a:p>
                  </a:txBody>
                  <a:tcPr/>
                </a:tc>
                <a:extLst>
                  <a:ext uri="{0D108BD9-81ED-4DB2-BD59-A6C34878D82A}">
                    <a16:rowId xmlns:a16="http://schemas.microsoft.com/office/drawing/2014/main" val="927515117"/>
                  </a:ext>
                </a:extLst>
              </a:tr>
              <a:tr h="370840">
                <a:tc>
                  <a:txBody>
                    <a:bodyPr/>
                    <a:lstStyle/>
                    <a:p>
                      <a:pPr algn="l"/>
                      <a:r>
                        <a:rPr lang="en-US" sz="1400" dirty="0">
                          <a:solidFill>
                            <a:schemeClr val="accent2"/>
                          </a:solidFill>
                          <a:latin typeface="Times New Roman" panose="02020603050405020304" pitchFamily="18" charset="0"/>
                          <a:cs typeface="Times New Roman" panose="02020603050405020304" pitchFamily="18" charset="0"/>
                        </a:rPr>
                        <a:t>K. Angel</a:t>
                      </a:r>
                    </a:p>
                    <a:p>
                      <a:pPr algn="l"/>
                      <a:r>
                        <a:rPr lang="en-US" sz="1400" dirty="0">
                          <a:solidFill>
                            <a:schemeClr val="accent2"/>
                          </a:solidFill>
                          <a:latin typeface="Times New Roman" panose="02020603050405020304" pitchFamily="18" charset="0"/>
                          <a:cs typeface="Times New Roman" panose="02020603050405020304" pitchFamily="18" charset="0"/>
                        </a:rPr>
                        <a:t>(23R21A66F7)</a:t>
                      </a:r>
                      <a:endParaRPr lang="en-IN" sz="1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Image data Processing</a:t>
                      </a: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Fundus image collection, image cleaning, resizing, noise removal, and normalization</a:t>
                      </a:r>
                    </a:p>
                  </a:txBody>
                  <a:tcPr/>
                </a:tc>
                <a:extLst>
                  <a:ext uri="{0D108BD9-81ED-4DB2-BD59-A6C34878D82A}">
                    <a16:rowId xmlns:a16="http://schemas.microsoft.com/office/drawing/2014/main" val="1288943905"/>
                  </a:ext>
                </a:extLst>
              </a:tr>
              <a:tr h="370840">
                <a:tc>
                  <a:txBody>
                    <a:bodyPr/>
                    <a:lstStyle/>
                    <a:p>
                      <a:pPr algn="l"/>
                      <a:r>
                        <a:rPr lang="en-US" sz="1400" dirty="0">
                          <a:solidFill>
                            <a:schemeClr val="accent2"/>
                          </a:solidFill>
                          <a:latin typeface="Times New Roman" panose="02020603050405020304" pitchFamily="18" charset="0"/>
                          <a:cs typeface="Times New Roman" panose="02020603050405020304" pitchFamily="18" charset="0"/>
                        </a:rPr>
                        <a:t>J. Pravalika</a:t>
                      </a:r>
                    </a:p>
                    <a:p>
                      <a:pPr algn="l"/>
                      <a:r>
                        <a:rPr lang="en-US" sz="1400" dirty="0">
                          <a:solidFill>
                            <a:schemeClr val="accent2"/>
                          </a:solidFill>
                          <a:latin typeface="Times New Roman" panose="02020603050405020304" pitchFamily="18" charset="0"/>
                          <a:cs typeface="Times New Roman" panose="02020603050405020304" pitchFamily="18" charset="0"/>
                        </a:rPr>
                        <a:t>(23R21A66F3)</a:t>
                      </a:r>
                      <a:endParaRPr lang="en-IN" sz="1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Deep Learning Model</a:t>
                      </a: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EfficientNet-B0, transfer learning, feature extraction, model training and DR classification</a:t>
                      </a:r>
                    </a:p>
                  </a:txBody>
                  <a:tcPr/>
                </a:tc>
                <a:extLst>
                  <a:ext uri="{0D108BD9-81ED-4DB2-BD59-A6C34878D82A}">
                    <a16:rowId xmlns:a16="http://schemas.microsoft.com/office/drawing/2014/main" val="3785705642"/>
                  </a:ext>
                </a:extLst>
              </a:tr>
              <a:tr h="370840">
                <a:tc>
                  <a:txBody>
                    <a:bodyPr/>
                    <a:lstStyle/>
                    <a:p>
                      <a:pPr algn="l"/>
                      <a:r>
                        <a:rPr lang="en-US" sz="1400" dirty="0">
                          <a:solidFill>
                            <a:schemeClr val="accent2"/>
                          </a:solidFill>
                          <a:latin typeface="Times New Roman" panose="02020603050405020304" pitchFamily="18" charset="0"/>
                          <a:cs typeface="Times New Roman" panose="02020603050405020304" pitchFamily="18" charset="0"/>
                        </a:rPr>
                        <a:t>G. Sainath</a:t>
                      </a:r>
                    </a:p>
                    <a:p>
                      <a:pPr algn="l"/>
                      <a:r>
                        <a:rPr lang="en-US" sz="1400" dirty="0">
                          <a:solidFill>
                            <a:schemeClr val="accent2"/>
                          </a:solidFill>
                          <a:latin typeface="Times New Roman" panose="02020603050405020304" pitchFamily="18" charset="0"/>
                          <a:cs typeface="Times New Roman" panose="02020603050405020304" pitchFamily="18" charset="0"/>
                        </a:rPr>
                        <a:t>(23R21A66F0)</a:t>
                      </a:r>
                      <a:endParaRPr lang="en-IN" sz="1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Explainable AI</a:t>
                      </a:r>
                    </a:p>
                  </a:txBody>
                  <a:tcPr/>
                </a:tc>
                <a:tc>
                  <a:txBody>
                    <a:bodyPr/>
                    <a:lstStyle/>
                    <a:p>
                      <a:pPr algn="l"/>
                      <a:r>
                        <a:rPr lang="en-IN" sz="1300" dirty="0">
                          <a:solidFill>
                            <a:schemeClr val="accent2"/>
                          </a:solidFill>
                        </a:rPr>
                        <a:t>Grad-CAM, heatmap generation, lesion visualization and prediction explanation</a:t>
                      </a:r>
                      <a:endParaRPr lang="en-IN" sz="1300" dirty="0">
                        <a:solidFill>
                          <a:schemeClr val="accent2"/>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0138655"/>
                  </a:ext>
                </a:extLst>
              </a:tr>
              <a:tr h="370840">
                <a:tc>
                  <a:txBody>
                    <a:bodyPr/>
                    <a:lstStyle/>
                    <a:p>
                      <a:pPr algn="l"/>
                      <a:r>
                        <a:rPr lang="en-US" sz="1400" dirty="0">
                          <a:solidFill>
                            <a:schemeClr val="accent2"/>
                          </a:solidFill>
                          <a:latin typeface="Times New Roman" panose="02020603050405020304" pitchFamily="18" charset="0"/>
                          <a:cs typeface="Times New Roman" panose="02020603050405020304" pitchFamily="18" charset="0"/>
                        </a:rPr>
                        <a:t>K. Karthik</a:t>
                      </a:r>
                    </a:p>
                    <a:p>
                      <a:pPr algn="l"/>
                      <a:r>
                        <a:rPr lang="en-US" sz="1400" dirty="0">
                          <a:solidFill>
                            <a:schemeClr val="accent2"/>
                          </a:solidFill>
                          <a:latin typeface="Times New Roman" panose="02020603050405020304" pitchFamily="18" charset="0"/>
                          <a:cs typeface="Times New Roman" panose="02020603050405020304" pitchFamily="18" charset="0"/>
                        </a:rPr>
                        <a:t>(23R21A66K1)</a:t>
                      </a:r>
                      <a:endParaRPr lang="en-IN" sz="1400" dirty="0">
                        <a:solidFill>
                          <a:schemeClr val="accent2"/>
                        </a:solidFill>
                        <a:latin typeface="Times New Roman" panose="02020603050405020304" pitchFamily="18" charset="0"/>
                        <a:cs typeface="Times New Roman" panose="02020603050405020304" pitchFamily="18" charset="0"/>
                      </a:endParaRPr>
                    </a:p>
                  </a:txBody>
                  <a:tcPr/>
                </a:tc>
                <a:tc>
                  <a:txBody>
                    <a:bodyPr/>
                    <a:lstStyle/>
                    <a:p>
                      <a:pPr algn="l"/>
                      <a:r>
                        <a:rPr lang="en-IN" sz="1400" dirty="0">
                          <a:solidFill>
                            <a:schemeClr val="accent2"/>
                          </a:solidFill>
                          <a:latin typeface="Times New Roman" panose="02020603050405020304" pitchFamily="18" charset="0"/>
                          <a:cs typeface="Times New Roman" panose="02020603050405020304" pitchFamily="18" charset="0"/>
                        </a:rPr>
                        <a:t>Evaluation &amp; System Integration</a:t>
                      </a:r>
                    </a:p>
                  </a:txBody>
                  <a:tcPr/>
                </a:tc>
                <a:tc>
                  <a:txBody>
                    <a:bodyPr/>
                    <a:lstStyle/>
                    <a:p>
                      <a:pPr algn="l"/>
                      <a:r>
                        <a:rPr lang="en-IN" sz="1300" dirty="0">
                          <a:solidFill>
                            <a:schemeClr val="accent2"/>
                          </a:solidFill>
                        </a:rPr>
                        <a:t>Accuracy, Precision, Recall, F1-Score, QWK, confidence scores and result analysis</a:t>
                      </a:r>
                      <a:endParaRPr lang="en-IN" sz="1300" dirty="0">
                        <a:solidFill>
                          <a:schemeClr val="accent2"/>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599647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526D4-8E8F-FFAE-BA45-AAF5DB8DAA5A}"/>
            </a:ext>
          </a:extLst>
        </p:cNvPr>
        <p:cNvGrpSpPr/>
        <p:nvPr/>
      </p:nvGrpSpPr>
      <p:grpSpPr>
        <a:xfrm>
          <a:off x="0" y="0"/>
          <a:ext cx="0" cy="0"/>
          <a:chOff x="0" y="0"/>
          <a:chExt cx="0" cy="0"/>
        </a:xfrm>
      </p:grpSpPr>
      <p:sp>
        <p:nvSpPr>
          <p:cNvPr id="81" name="Google Shape;82;p3">
            <a:extLst>
              <a:ext uri="{FF2B5EF4-FFF2-40B4-BE49-F238E27FC236}">
                <a16:creationId xmlns:a16="http://schemas.microsoft.com/office/drawing/2014/main" id="{4B7C49C8-CCFC-281B-A13E-A94B6900101D}"/>
              </a:ext>
            </a:extLst>
          </p:cNvPr>
          <p:cNvSpPr/>
          <p:nvPr/>
        </p:nvSpPr>
        <p:spPr>
          <a:xfrm>
            <a:off x="2502000" y="338456"/>
            <a:ext cx="4138920" cy="5299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90000"/>
              </a:lnSpc>
              <a:tabLst>
                <a:tab pos="0" algn="l"/>
              </a:tabLst>
            </a:pPr>
            <a:r>
              <a:rPr lang="en-US" sz="3600" b="0" strike="noStrike" spc="-1">
                <a:solidFill>
                  <a:srgbClr val="FF0000"/>
                </a:solidFill>
                <a:latin typeface="Times New Roman" panose="02020603050405020304" pitchFamily="18" charset="0"/>
                <a:ea typeface="Noto Serif Ethiopic"/>
                <a:cs typeface="Times New Roman" panose="02020603050405020304" pitchFamily="18" charset="0"/>
              </a:rPr>
              <a:t>Introduction</a:t>
            </a:r>
            <a:endParaRPr lang="en-IN" sz="3600" b="0" strike="noStrike" spc="-1">
              <a:solidFill>
                <a:srgbClr val="FF0000"/>
              </a:solidFill>
              <a:latin typeface="Times New Roman" panose="02020603050405020304" pitchFamily="18" charset="0"/>
              <a:cs typeface="Times New Roman" panose="02020603050405020304" pitchFamily="18" charset="0"/>
            </a:endParaRPr>
          </a:p>
        </p:txBody>
      </p:sp>
      <p:sp>
        <p:nvSpPr>
          <p:cNvPr id="83" name="Google Shape;84;p3">
            <a:extLst>
              <a:ext uri="{FF2B5EF4-FFF2-40B4-BE49-F238E27FC236}">
                <a16:creationId xmlns:a16="http://schemas.microsoft.com/office/drawing/2014/main" id="{43667082-DCF3-23BB-FF4D-E367D6C84EA1}"/>
              </a:ext>
            </a:extLst>
          </p:cNvPr>
          <p:cNvSpPr/>
          <p:nvPr/>
        </p:nvSpPr>
        <p:spPr>
          <a:xfrm>
            <a:off x="684360" y="1070361"/>
            <a:ext cx="7774200" cy="336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91440" algn="just">
              <a:lnSpc>
                <a:spcPct val="150000"/>
              </a:lnSpc>
              <a:tabLst>
                <a:tab pos="0" algn="l"/>
              </a:tabLst>
            </a:pPr>
            <a:endParaRPr lang="en-IN" sz="1400" b="0" strike="noStrike" spc="-1">
              <a:solidFill>
                <a:srgbClr val="000000"/>
              </a:solidFill>
              <a:latin typeface="Arial"/>
            </a:endParaRPr>
          </a:p>
        </p:txBody>
      </p:sp>
      <p:sp>
        <p:nvSpPr>
          <p:cNvPr id="84" name="Google Shape;85;p3">
            <a:extLst>
              <a:ext uri="{FF2B5EF4-FFF2-40B4-BE49-F238E27FC236}">
                <a16:creationId xmlns:a16="http://schemas.microsoft.com/office/drawing/2014/main" id="{5D649DD1-6BC2-CD0D-7897-E10042C33C02}"/>
              </a:ext>
            </a:extLst>
          </p:cNvPr>
          <p:cNvSpPr/>
          <p:nvPr/>
        </p:nvSpPr>
        <p:spPr>
          <a:xfrm>
            <a:off x="816480" y="1973276"/>
            <a:ext cx="7363440" cy="89109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algn="just">
              <a:lnSpc>
                <a:spcPct val="150000"/>
              </a:lnSpc>
              <a:spcBef>
                <a:spcPts val="1199"/>
              </a:spcBef>
              <a:tabLst>
                <a:tab pos="0" algn="l"/>
              </a:tabLst>
            </a:pPr>
            <a:endParaRPr lang="en-IN" sz="1400" b="0" strike="noStrike" spc="-1">
              <a:solidFill>
                <a:srgbClr val="000000"/>
              </a:solidFill>
              <a:latin typeface="Arial"/>
            </a:endParaRPr>
          </a:p>
          <a:p>
            <a:pPr marL="457200" algn="just">
              <a:lnSpc>
                <a:spcPct val="150000"/>
              </a:lnSpc>
              <a:spcBef>
                <a:spcPts val="1199"/>
              </a:spcBef>
              <a:tabLst>
                <a:tab pos="0" algn="l"/>
              </a:tabLst>
            </a:pPr>
            <a:endParaRPr lang="en-IN" sz="1400" b="0" strike="noStrike" spc="-1">
              <a:solidFill>
                <a:srgbClr val="000000"/>
              </a:solidFill>
              <a:latin typeface="Arial"/>
            </a:endParaRPr>
          </a:p>
        </p:txBody>
      </p:sp>
      <p:sp>
        <p:nvSpPr>
          <p:cNvPr id="85" name="Google Shape;86;p3">
            <a:extLst>
              <a:ext uri="{FF2B5EF4-FFF2-40B4-BE49-F238E27FC236}">
                <a16:creationId xmlns:a16="http://schemas.microsoft.com/office/drawing/2014/main" id="{D06D5144-0CB7-4169-765B-3C1A4760264A}"/>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86" name="Google Shape;87;p3">
            <a:extLst>
              <a:ext uri="{FF2B5EF4-FFF2-40B4-BE49-F238E27FC236}">
                <a16:creationId xmlns:a16="http://schemas.microsoft.com/office/drawing/2014/main" id="{6F77CC26-52BA-9A54-9596-A496E9E9C62B}"/>
              </a:ext>
            </a:extLst>
          </p:cNvPr>
          <p:cNvSpPr/>
          <p:nvPr/>
        </p:nvSpPr>
        <p:spPr>
          <a:xfrm>
            <a:off x="7785000" y="4553640"/>
            <a:ext cx="95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4</a:t>
            </a:r>
            <a:endParaRPr lang="en-IN" sz="1800" b="0" strike="noStrike" spc="-1" dirty="0">
              <a:solidFill>
                <a:srgbClr val="000000"/>
              </a:solidFill>
              <a:latin typeface="Arial"/>
            </a:endParaRPr>
          </a:p>
        </p:txBody>
      </p:sp>
      <p:sp>
        <p:nvSpPr>
          <p:cNvPr id="4" name="Rectangle 2">
            <a:extLst>
              <a:ext uri="{FF2B5EF4-FFF2-40B4-BE49-F238E27FC236}">
                <a16:creationId xmlns:a16="http://schemas.microsoft.com/office/drawing/2014/main" id="{5A652D7D-94F6-6A3E-8B8F-3F1BEFBF5371}"/>
              </a:ext>
            </a:extLst>
          </p:cNvPr>
          <p:cNvSpPr>
            <a:spLocks noChangeArrowheads="1"/>
          </p:cNvSpPr>
          <p:nvPr/>
        </p:nvSpPr>
        <p:spPr bwMode="auto">
          <a:xfrm rot="10800000" flipV="1">
            <a:off x="522513" y="975737"/>
            <a:ext cx="7985089" cy="3577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sz="1400" dirty="0">
                <a:solidFill>
                  <a:srgbClr val="000000"/>
                </a:solidFill>
                <a:latin typeface="Times New Roman"/>
                <a:cs typeface="Times New Roman"/>
              </a:rPr>
              <a:t>Diabetic Retinopathy (DR) is one of the leading causes of preventable blindness among people with diabetes. Early detection is essential to prevent vision loss, but manual screening of retinal fundus images is time-consuming and depends on the availability of experienced ophthalmologists, especially in underserved regions. Although deep learning models have demonstrated high accuracy in automated DR severity grading, their lack of interpretability limits clinical trust and adoption. This project proposes an Explainable Deep Learning Framework for Diabetic Retinopathy Severity Grading that automatically classifies DR severity while employing Explainable AI techniques, such as Grad-CAM, to highlight retinal lesions including microaneurysms, </a:t>
            </a:r>
            <a:r>
              <a:rPr lang="en-IN" sz="1400" dirty="0" err="1">
                <a:solidFill>
                  <a:srgbClr val="000000"/>
                </a:solidFill>
                <a:latin typeface="Times New Roman"/>
                <a:cs typeface="Times New Roman"/>
              </a:rPr>
              <a:t>hemorrhages</a:t>
            </a:r>
            <a:r>
              <a:rPr lang="en-IN" sz="1400" dirty="0">
                <a:solidFill>
                  <a:srgbClr val="000000"/>
                </a:solidFill>
                <a:latin typeface="Times New Roman"/>
                <a:cs typeface="Times New Roman"/>
              </a:rPr>
              <a:t>, and exudates that influence the model's predictions. This enhances transparency, assists clinicians in validating AI decisions, and supports reliable, scalable, and early diabetic retinopathy screening.</a:t>
            </a:r>
            <a:endParaRPr lang="en-US" dirty="0">
              <a:solidFill>
                <a:srgbClr val="000000"/>
              </a:solidFill>
              <a:cs typeface="Arial"/>
            </a:endParaRPr>
          </a:p>
          <a:p>
            <a:pPr algn="just"/>
            <a:endParaRPr lang="en-IN" sz="1650" dirty="0">
              <a:solidFill>
                <a:srgbClr val="000000"/>
              </a:solidFill>
              <a:latin typeface="Times New Roman"/>
              <a:cs typeface="Times New Roman"/>
            </a:endParaRPr>
          </a:p>
        </p:txBody>
      </p:sp>
      <p:pic>
        <p:nvPicPr>
          <p:cNvPr id="5" name="Picture 4">
            <a:extLst>
              <a:ext uri="{FF2B5EF4-FFF2-40B4-BE49-F238E27FC236}">
                <a16:creationId xmlns:a16="http://schemas.microsoft.com/office/drawing/2014/main" id="{FF562BF2-1C1D-3323-3EAB-DBE030928C93}"/>
              </a:ext>
            </a:extLst>
          </p:cNvPr>
          <p:cNvPicPr>
            <a:picLocks noChangeAspect="1"/>
          </p:cNvPicPr>
          <p:nvPr/>
        </p:nvPicPr>
        <p:blipFill>
          <a:blip r:embed="rId2"/>
          <a:stretch>
            <a:fillRect/>
          </a:stretch>
        </p:blipFill>
        <p:spPr>
          <a:xfrm>
            <a:off x="220439" y="166181"/>
            <a:ext cx="1355522" cy="337186"/>
          </a:xfrm>
          <a:prstGeom prst="rect">
            <a:avLst/>
          </a:prstGeom>
        </p:spPr>
      </p:pic>
    </p:spTree>
    <p:extLst>
      <p:ext uri="{BB962C8B-B14F-4D97-AF65-F5344CB8AC3E}">
        <p14:creationId xmlns:p14="http://schemas.microsoft.com/office/powerpoint/2010/main" val="158393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D364-1E80-CB06-C989-BA07B1FBA63C}"/>
            </a:ext>
          </a:extLst>
        </p:cNvPr>
        <p:cNvGrpSpPr/>
        <p:nvPr/>
      </p:nvGrpSpPr>
      <p:grpSpPr>
        <a:xfrm>
          <a:off x="0" y="0"/>
          <a:ext cx="0" cy="0"/>
          <a:chOff x="0" y="0"/>
          <a:chExt cx="0" cy="0"/>
        </a:xfrm>
      </p:grpSpPr>
      <p:sp>
        <p:nvSpPr>
          <p:cNvPr id="81" name="Google Shape;82;p3">
            <a:extLst>
              <a:ext uri="{FF2B5EF4-FFF2-40B4-BE49-F238E27FC236}">
                <a16:creationId xmlns:a16="http://schemas.microsoft.com/office/drawing/2014/main" id="{0E5FF8BD-C6B1-108D-4D96-5421B9A42376}"/>
              </a:ext>
            </a:extLst>
          </p:cNvPr>
          <p:cNvSpPr/>
          <p:nvPr/>
        </p:nvSpPr>
        <p:spPr>
          <a:xfrm>
            <a:off x="2501999" y="332720"/>
            <a:ext cx="4138920" cy="5299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90000"/>
              </a:lnSpc>
              <a:tabLst>
                <a:tab pos="0" algn="l"/>
              </a:tabLst>
            </a:pPr>
            <a:r>
              <a:rPr lang="en-US" sz="3600" spc="-1">
                <a:solidFill>
                  <a:srgbClr val="FF0000"/>
                </a:solidFill>
                <a:latin typeface="Times New Roman" panose="02020603050405020304" pitchFamily="18" charset="0"/>
                <a:cs typeface="Times New Roman" panose="02020603050405020304" pitchFamily="18" charset="0"/>
              </a:rPr>
              <a:t>Abstract</a:t>
            </a:r>
            <a:endParaRPr lang="en-IN" sz="3600" b="0" strike="noStrike" spc="-1">
              <a:solidFill>
                <a:srgbClr val="FF0000"/>
              </a:solidFill>
              <a:latin typeface="Times New Roman" panose="02020603050405020304" pitchFamily="18" charset="0"/>
              <a:cs typeface="Times New Roman" panose="02020603050405020304" pitchFamily="18" charset="0"/>
            </a:endParaRPr>
          </a:p>
        </p:txBody>
      </p:sp>
      <p:sp>
        <p:nvSpPr>
          <p:cNvPr id="83" name="Google Shape;84;p3">
            <a:extLst>
              <a:ext uri="{FF2B5EF4-FFF2-40B4-BE49-F238E27FC236}">
                <a16:creationId xmlns:a16="http://schemas.microsoft.com/office/drawing/2014/main" id="{D3D50C28-6CF0-66C6-33D4-70C388C8452E}"/>
              </a:ext>
            </a:extLst>
          </p:cNvPr>
          <p:cNvSpPr/>
          <p:nvPr/>
        </p:nvSpPr>
        <p:spPr>
          <a:xfrm>
            <a:off x="684360" y="1070361"/>
            <a:ext cx="7774200" cy="336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91440" algn="just">
              <a:lnSpc>
                <a:spcPct val="150000"/>
              </a:lnSpc>
              <a:tabLst>
                <a:tab pos="0" algn="l"/>
              </a:tabLst>
            </a:pPr>
            <a:endParaRPr lang="en-IN" sz="1400" b="0" strike="noStrike" spc="-1">
              <a:solidFill>
                <a:srgbClr val="000000"/>
              </a:solidFill>
              <a:latin typeface="Arial"/>
            </a:endParaRPr>
          </a:p>
        </p:txBody>
      </p:sp>
      <p:sp>
        <p:nvSpPr>
          <p:cNvPr id="84" name="Google Shape;85;p3">
            <a:extLst>
              <a:ext uri="{FF2B5EF4-FFF2-40B4-BE49-F238E27FC236}">
                <a16:creationId xmlns:a16="http://schemas.microsoft.com/office/drawing/2014/main" id="{7340C51D-CE6C-E544-A9E4-AAE4D43DCC8E}"/>
              </a:ext>
            </a:extLst>
          </p:cNvPr>
          <p:cNvSpPr/>
          <p:nvPr/>
        </p:nvSpPr>
        <p:spPr>
          <a:xfrm>
            <a:off x="816480" y="1973276"/>
            <a:ext cx="7363440" cy="89109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algn="just">
              <a:lnSpc>
                <a:spcPct val="150000"/>
              </a:lnSpc>
              <a:spcBef>
                <a:spcPts val="1199"/>
              </a:spcBef>
              <a:tabLst>
                <a:tab pos="0" algn="l"/>
              </a:tabLst>
            </a:pPr>
            <a:endParaRPr lang="en-IN" sz="1400" b="0" strike="noStrike" spc="-1">
              <a:solidFill>
                <a:srgbClr val="000000"/>
              </a:solidFill>
              <a:latin typeface="Arial"/>
            </a:endParaRPr>
          </a:p>
          <a:p>
            <a:pPr marL="457200" algn="just">
              <a:lnSpc>
                <a:spcPct val="150000"/>
              </a:lnSpc>
              <a:spcBef>
                <a:spcPts val="1199"/>
              </a:spcBef>
              <a:tabLst>
                <a:tab pos="0" algn="l"/>
              </a:tabLst>
            </a:pPr>
            <a:endParaRPr lang="en-IN" sz="1400" b="0" strike="noStrike" spc="-1">
              <a:solidFill>
                <a:srgbClr val="000000"/>
              </a:solidFill>
              <a:latin typeface="Arial"/>
            </a:endParaRPr>
          </a:p>
        </p:txBody>
      </p:sp>
      <p:sp>
        <p:nvSpPr>
          <p:cNvPr id="85" name="Google Shape;86;p3">
            <a:extLst>
              <a:ext uri="{FF2B5EF4-FFF2-40B4-BE49-F238E27FC236}">
                <a16:creationId xmlns:a16="http://schemas.microsoft.com/office/drawing/2014/main" id="{6B95CD51-171D-3A4D-1462-01BF81434EE4}"/>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86" name="Google Shape;87;p3">
            <a:extLst>
              <a:ext uri="{FF2B5EF4-FFF2-40B4-BE49-F238E27FC236}">
                <a16:creationId xmlns:a16="http://schemas.microsoft.com/office/drawing/2014/main" id="{0B5C21A1-2A57-2C72-37B5-981D86130507}"/>
              </a:ext>
            </a:extLst>
          </p:cNvPr>
          <p:cNvSpPr/>
          <p:nvPr/>
        </p:nvSpPr>
        <p:spPr>
          <a:xfrm>
            <a:off x="7785000" y="4553640"/>
            <a:ext cx="95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5 </a:t>
            </a:r>
            <a:endParaRPr lang="en-IN" sz="1800" b="0" strike="noStrike" spc="-1" dirty="0">
              <a:solidFill>
                <a:srgbClr val="000000"/>
              </a:solidFill>
              <a:latin typeface="Arial"/>
            </a:endParaRPr>
          </a:p>
        </p:txBody>
      </p:sp>
      <p:sp>
        <p:nvSpPr>
          <p:cNvPr id="4" name="Rectangle 2">
            <a:extLst>
              <a:ext uri="{FF2B5EF4-FFF2-40B4-BE49-F238E27FC236}">
                <a16:creationId xmlns:a16="http://schemas.microsoft.com/office/drawing/2014/main" id="{433C187F-6E4F-8BFC-3CA1-D79018A14C99}"/>
              </a:ext>
            </a:extLst>
          </p:cNvPr>
          <p:cNvSpPr>
            <a:spLocks noChangeArrowheads="1"/>
          </p:cNvSpPr>
          <p:nvPr/>
        </p:nvSpPr>
        <p:spPr bwMode="auto">
          <a:xfrm rot="10800000" flipV="1">
            <a:off x="562055" y="946596"/>
            <a:ext cx="8018807"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Bef>
                <a:spcPct val="0"/>
              </a:spcBef>
              <a:spcAft>
                <a:spcPct val="0"/>
              </a:spcAft>
            </a:pPr>
            <a:r>
              <a:rPr lang="en-IN" sz="1400" dirty="0">
                <a:solidFill>
                  <a:srgbClr val="000000"/>
                </a:solidFill>
                <a:latin typeface="Times New Roman"/>
                <a:cs typeface="Times New Roman"/>
              </a:rPr>
              <a:t>Diabetic Retinopathy (DR) is one of the leading causes of preventable blindness among people with diabetes. Early detection is crucial, but manual screening of retinal fundus images is time-consuming and depends on expert ophthalmologists. This project presents an Explainable Deep Learning Framework for Automated Diabetic Retinopathy Severity Grading using EfficientNet-B0 and Grad-CAM. The proposed model classifies retinal images into five DR severity levels and highlights the retinal regions influencing its predictions, improving transparency and clinical trust. The framework is trained on the retinal funds image dataset and evaluated using Accuracy, Precision, Recall, F1-Score, and Quadratic Weighted Kappa(QWK). The proposed system supports accurate, efficient, and explainable diabetic retinopathy screening.</a:t>
            </a:r>
            <a:endParaRPr lang="en-US" sz="1400" dirty="0">
              <a:solidFill>
                <a:srgbClr val="000000"/>
              </a:solidFill>
              <a:latin typeface="Times New Roman"/>
              <a:cs typeface="Times New Roman"/>
            </a:endParaRPr>
          </a:p>
          <a:p>
            <a:pPr algn="just">
              <a:lnSpc>
                <a:spcPct val="150000"/>
              </a:lnSpc>
              <a:spcBef>
                <a:spcPct val="0"/>
              </a:spcBef>
              <a:spcAft>
                <a:spcPct val="0"/>
              </a:spcAft>
            </a:pPr>
            <a:endParaRPr lang="en-US" sz="1400" dirty="0">
              <a:solidFill>
                <a:srgbClr val="000000"/>
              </a:solidFill>
              <a:latin typeface="Times New Roman"/>
              <a:cs typeface="Times New Roman"/>
            </a:endParaRPr>
          </a:p>
          <a:p>
            <a:pPr algn="just">
              <a:lnSpc>
                <a:spcPct val="150000"/>
              </a:lnSpc>
              <a:spcBef>
                <a:spcPct val="0"/>
              </a:spcBef>
              <a:spcAft>
                <a:spcPct val="0"/>
              </a:spcAft>
            </a:pPr>
            <a:r>
              <a:rPr lang="en-US" sz="1400" b="1" dirty="0">
                <a:solidFill>
                  <a:srgbClr val="000000"/>
                </a:solidFill>
                <a:latin typeface="Times New Roman"/>
                <a:cs typeface="Times New Roman"/>
              </a:rPr>
              <a:t>Keywords: </a:t>
            </a:r>
            <a:r>
              <a:rPr lang="en-IN" sz="1400" dirty="0">
                <a:solidFill>
                  <a:srgbClr val="000000"/>
                </a:solidFill>
                <a:latin typeface="Times New Roman"/>
                <a:cs typeface="Times New Roman"/>
              </a:rPr>
              <a:t>Diabetic Retinopathy, Deep Learning, Explainable AI (XAI), EfficientNet-B0,Grad-CAM,Retinal Fundus Images, Severity Grading</a:t>
            </a:r>
          </a:p>
        </p:txBody>
      </p:sp>
      <p:pic>
        <p:nvPicPr>
          <p:cNvPr id="5" name="Picture 4">
            <a:extLst>
              <a:ext uri="{FF2B5EF4-FFF2-40B4-BE49-F238E27FC236}">
                <a16:creationId xmlns:a16="http://schemas.microsoft.com/office/drawing/2014/main" id="{D2D4643A-A1B0-6A12-93CA-9C026C3DF2BA}"/>
              </a:ext>
            </a:extLst>
          </p:cNvPr>
          <p:cNvPicPr>
            <a:picLocks noChangeAspect="1"/>
          </p:cNvPicPr>
          <p:nvPr/>
        </p:nvPicPr>
        <p:blipFill>
          <a:blip r:embed="rId2"/>
          <a:stretch>
            <a:fillRect/>
          </a:stretch>
        </p:blipFill>
        <p:spPr>
          <a:xfrm>
            <a:off x="220439" y="166181"/>
            <a:ext cx="1355522" cy="337186"/>
          </a:xfrm>
          <a:prstGeom prst="rect">
            <a:avLst/>
          </a:prstGeom>
        </p:spPr>
      </p:pic>
    </p:spTree>
    <p:extLst>
      <p:ext uri="{BB962C8B-B14F-4D97-AF65-F5344CB8AC3E}">
        <p14:creationId xmlns:p14="http://schemas.microsoft.com/office/powerpoint/2010/main" val="2868337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4CD6C7-6057-DB82-0165-DCBC79E25365}"/>
              </a:ext>
            </a:extLst>
          </p:cNvPr>
          <p:cNvPicPr>
            <a:picLocks noChangeAspect="1"/>
          </p:cNvPicPr>
          <p:nvPr/>
        </p:nvPicPr>
        <p:blipFill>
          <a:blip r:embed="rId3"/>
          <a:stretch>
            <a:fillRect/>
          </a:stretch>
        </p:blipFill>
        <p:spPr>
          <a:xfrm>
            <a:off x="220439" y="166181"/>
            <a:ext cx="1355522" cy="337186"/>
          </a:xfrm>
          <a:prstGeom prst="rect">
            <a:avLst/>
          </a:prstGeom>
        </p:spPr>
      </p:pic>
      <p:sp>
        <p:nvSpPr>
          <p:cNvPr id="5" name="TextBox 4">
            <a:extLst>
              <a:ext uri="{FF2B5EF4-FFF2-40B4-BE49-F238E27FC236}">
                <a16:creationId xmlns:a16="http://schemas.microsoft.com/office/drawing/2014/main" id="{C53C6765-2239-5E30-BCD3-8440E2528B5C}"/>
              </a:ext>
            </a:extLst>
          </p:cNvPr>
          <p:cNvSpPr txBox="1"/>
          <p:nvPr/>
        </p:nvSpPr>
        <p:spPr>
          <a:xfrm>
            <a:off x="2097314" y="334774"/>
            <a:ext cx="4572000" cy="535531"/>
          </a:xfrm>
          <a:prstGeom prst="rect">
            <a:avLst/>
          </a:prstGeom>
          <a:noFill/>
        </p:spPr>
        <p:txBody>
          <a:bodyPr wrap="square">
            <a:spAutoFit/>
          </a:bodyPr>
          <a:lstStyle/>
          <a:p>
            <a:pPr algn="ctr">
              <a:lnSpc>
                <a:spcPct val="90000"/>
              </a:lnSpc>
              <a:tabLst>
                <a:tab pos="0" algn="l"/>
              </a:tabLst>
            </a:pPr>
            <a:r>
              <a:rPr lang="en-US" sz="3200" b="0" strike="noStrike" spc="-1">
                <a:solidFill>
                  <a:srgbClr val="FF0000"/>
                </a:solidFill>
                <a:latin typeface="Times New Roman" panose="02020603050405020304" pitchFamily="18" charset="0"/>
                <a:cs typeface="Times New Roman" panose="02020603050405020304" pitchFamily="18" charset="0"/>
              </a:rPr>
              <a:t>Liter</a:t>
            </a:r>
            <a:r>
              <a:rPr lang="en-US" sz="3200" spc="-1">
                <a:solidFill>
                  <a:srgbClr val="FF0000"/>
                </a:solidFill>
                <a:latin typeface="Times New Roman" panose="02020603050405020304" pitchFamily="18" charset="0"/>
                <a:cs typeface="Times New Roman" panose="02020603050405020304" pitchFamily="18" charset="0"/>
              </a:rPr>
              <a:t>ature Survey</a:t>
            </a:r>
            <a:endParaRPr lang="en-IN" sz="3200" b="0" strike="noStrike" spc="-1">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22763C0-F67C-A736-171B-3B1A68D276AB}"/>
              </a:ext>
            </a:extLst>
          </p:cNvPr>
          <p:cNvGraphicFramePr>
            <a:graphicFrameLocks noGrp="1"/>
          </p:cNvGraphicFramePr>
          <p:nvPr>
            <p:extLst>
              <p:ext uri="{D42A27DB-BD31-4B8C-83A1-F6EECF244321}">
                <p14:modId xmlns:p14="http://schemas.microsoft.com/office/powerpoint/2010/main" val="4173991401"/>
              </p:ext>
            </p:extLst>
          </p:nvPr>
        </p:nvGraphicFramePr>
        <p:xfrm>
          <a:off x="624275" y="921675"/>
          <a:ext cx="7895451" cy="3611910"/>
        </p:xfrm>
        <a:graphic>
          <a:graphicData uri="http://schemas.openxmlformats.org/drawingml/2006/table">
            <a:tbl>
              <a:tblPr firstRow="1" bandRow="1">
                <a:noFill/>
              </a:tblPr>
              <a:tblGrid>
                <a:gridCol w="251264">
                  <a:extLst>
                    <a:ext uri="{9D8B030D-6E8A-4147-A177-3AD203B41FA5}">
                      <a16:colId xmlns:a16="http://schemas.microsoft.com/office/drawing/2014/main" val="2291217495"/>
                    </a:ext>
                  </a:extLst>
                </a:gridCol>
                <a:gridCol w="1426789">
                  <a:extLst>
                    <a:ext uri="{9D8B030D-6E8A-4147-A177-3AD203B41FA5}">
                      <a16:colId xmlns:a16="http://schemas.microsoft.com/office/drawing/2014/main" val="2637299150"/>
                    </a:ext>
                  </a:extLst>
                </a:gridCol>
                <a:gridCol w="1085850">
                  <a:extLst>
                    <a:ext uri="{9D8B030D-6E8A-4147-A177-3AD203B41FA5}">
                      <a16:colId xmlns:a16="http://schemas.microsoft.com/office/drawing/2014/main" val="4021541086"/>
                    </a:ext>
                  </a:extLst>
                </a:gridCol>
                <a:gridCol w="1061357">
                  <a:extLst>
                    <a:ext uri="{9D8B030D-6E8A-4147-A177-3AD203B41FA5}">
                      <a16:colId xmlns:a16="http://schemas.microsoft.com/office/drawing/2014/main" val="1402667063"/>
                    </a:ext>
                  </a:extLst>
                </a:gridCol>
                <a:gridCol w="1565139">
                  <a:extLst>
                    <a:ext uri="{9D8B030D-6E8A-4147-A177-3AD203B41FA5}">
                      <a16:colId xmlns:a16="http://schemas.microsoft.com/office/drawing/2014/main" val="1537605563"/>
                    </a:ext>
                  </a:extLst>
                </a:gridCol>
                <a:gridCol w="1357950">
                  <a:extLst>
                    <a:ext uri="{9D8B030D-6E8A-4147-A177-3AD203B41FA5}">
                      <a16:colId xmlns:a16="http://schemas.microsoft.com/office/drawing/2014/main" val="1362107833"/>
                    </a:ext>
                  </a:extLst>
                </a:gridCol>
                <a:gridCol w="1147102">
                  <a:extLst>
                    <a:ext uri="{9D8B030D-6E8A-4147-A177-3AD203B41FA5}">
                      <a16:colId xmlns:a16="http://schemas.microsoft.com/office/drawing/2014/main" val="3364987878"/>
                    </a:ext>
                  </a:extLst>
                </a:gridCol>
              </a:tblGrid>
              <a:tr h="440101">
                <a:tc>
                  <a:txBody>
                    <a:bodyPr/>
                    <a:lstStyle/>
                    <a:p>
                      <a:pPr marL="0" marR="0" lvl="0" indent="0" algn="l" rtl="0">
                        <a:spcBef>
                          <a:spcPts val="0"/>
                        </a:spcBef>
                        <a:spcAft>
                          <a:spcPts val="0"/>
                        </a:spcAft>
                        <a:buNone/>
                      </a:pPr>
                      <a:r>
                        <a:rPr lang="en-US" sz="12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a:t>
                      </a:r>
                      <a:endParaRPr sz="12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Title</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Author</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Journal Name &amp; Year</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Methodology Adapted</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Findings </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a:spcBef>
                          <a:spcPts val="0"/>
                        </a:spcBef>
                        <a:spcAft>
                          <a:spcPts val="0"/>
                        </a:spcAft>
                        <a:buNone/>
                      </a:pPr>
                      <a:r>
                        <a:rPr lang="en-US"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Gaps</a:t>
                      </a:r>
                      <a:endParaRPr sz="12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1211625386"/>
                  </a:ext>
                </a:extLst>
              </a:tr>
              <a:tr h="1305669">
                <a:tc>
                  <a:txBody>
                    <a:bodyPr/>
                    <a:lstStyle/>
                    <a:p>
                      <a:pPr marL="0" marR="0" lvl="0" indent="0" algn="l" rtl="0">
                        <a:spcBef>
                          <a:spcPts val="0"/>
                        </a:spcBef>
                        <a:spcAft>
                          <a:spcPts val="0"/>
                        </a:spcAft>
                        <a:buNone/>
                      </a:pPr>
                      <a:r>
                        <a:rPr lang="en-US" sz="12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1</a:t>
                      </a:r>
                      <a:endParaRPr sz="120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A Clinically Interpretable Deep Learning Pipeline for Diabetic Retinopathy Classification Using </a:t>
                      </a:r>
                      <a:r>
                        <a:rPr lang="en-IN" sz="1200" dirty="0" err="1">
                          <a:solidFill>
                            <a:schemeClr val="accent2"/>
                          </a:solidFill>
                          <a:latin typeface="Times New Roman" panose="02020603050405020304" pitchFamily="18" charset="0"/>
                          <a:cs typeface="Times New Roman" panose="02020603050405020304" pitchFamily="18" charset="0"/>
                        </a:rPr>
                        <a:t>EfficientNetand</a:t>
                      </a:r>
                      <a:r>
                        <a:rPr lang="en-IN" sz="1200" dirty="0">
                          <a:solidFill>
                            <a:schemeClr val="accent2"/>
                          </a:solidFill>
                          <a:latin typeface="Times New Roman" panose="02020603050405020304" pitchFamily="18" charset="0"/>
                          <a:cs typeface="Times New Roman" panose="02020603050405020304" pitchFamily="18" charset="0"/>
                        </a:rPr>
                        <a:t> </a:t>
                      </a:r>
                      <a:r>
                        <a:rPr lang="en-IN" sz="1200" dirty="0" err="1">
                          <a:solidFill>
                            <a:schemeClr val="accent2"/>
                          </a:solidFill>
                          <a:latin typeface="Times New Roman" panose="02020603050405020304" pitchFamily="18" charset="0"/>
                          <a:cs typeface="Times New Roman" panose="02020603050405020304" pitchFamily="18" charset="0"/>
                        </a:rPr>
                        <a:t>GradCAM</a:t>
                      </a:r>
                      <a:endParaRPr lang="en-US" sz="1200" b="0" i="0" u="none" strike="noStrike" cap="none" dirty="0">
                        <a:solidFill>
                          <a:schemeClr val="accent2"/>
                        </a:solidFill>
                        <a:latin typeface="Times New Roman" panose="02020603050405020304" pitchFamily="18" charset="0"/>
                        <a:cs typeface="Times New Roman" panose="02020603050405020304" pitchFamily="18" charset="0"/>
                        <a:sym typeface="Arial" panose="020B0604020202020204"/>
                      </a:endParaRPr>
                    </a:p>
                  </a:txBody>
                  <a:tcPr marL="6350" marR="6350" marT="6350" marB="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K. K. </a:t>
                      </a:r>
                      <a:r>
                        <a:rPr lang="en-IN" sz="1200" dirty="0" err="1">
                          <a:solidFill>
                            <a:schemeClr val="accent2"/>
                          </a:solidFill>
                          <a:latin typeface="Times New Roman" panose="02020603050405020304" pitchFamily="18" charset="0"/>
                          <a:cs typeface="Times New Roman" panose="02020603050405020304" pitchFamily="18" charset="0"/>
                        </a:rPr>
                        <a:t>Ghadai</a:t>
                      </a:r>
                      <a:r>
                        <a:rPr lang="en-IN" sz="1200" dirty="0">
                          <a:solidFill>
                            <a:schemeClr val="accent2"/>
                          </a:solidFill>
                          <a:latin typeface="Times New Roman" panose="02020603050405020304" pitchFamily="18" charset="0"/>
                          <a:cs typeface="Times New Roman" panose="02020603050405020304" pitchFamily="18" charset="0"/>
                        </a:rPr>
                        <a:t>, S. K. Nayak, B. R. Senapati</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l"/>
                      <a:r>
                        <a:rPr lang="en-IN" sz="1200" dirty="0">
                          <a:solidFill>
                            <a:schemeClr val="accent2"/>
                          </a:solidFill>
                          <a:latin typeface="Times New Roman" panose="02020603050405020304" pitchFamily="18" charset="0"/>
                          <a:cs typeface="Times New Roman" panose="02020603050405020304" pitchFamily="18" charset="0"/>
                        </a:rPr>
                        <a:t>BMC Ophthalmology, 2026</a:t>
                      </a:r>
                      <a:endParaRPr lang="en-US" sz="1200" dirty="0">
                        <a:solidFill>
                          <a:schemeClr val="accent2"/>
                        </a:solidFill>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b="0" dirty="0" err="1">
                          <a:solidFill>
                            <a:schemeClr val="accent2"/>
                          </a:solidFill>
                          <a:latin typeface="Times New Roman" panose="02020603050405020304" pitchFamily="18" charset="0"/>
                          <a:cs typeface="Times New Roman" panose="02020603050405020304" pitchFamily="18" charset="0"/>
                        </a:rPr>
                        <a:t>EfficientNet</a:t>
                      </a:r>
                      <a:r>
                        <a:rPr lang="en-IN" sz="1200" b="0" dirty="0">
                          <a:solidFill>
                            <a:schemeClr val="accent2"/>
                          </a:solidFill>
                          <a:latin typeface="Times New Roman" panose="02020603050405020304" pitchFamily="18" charset="0"/>
                          <a:cs typeface="Times New Roman" panose="02020603050405020304" pitchFamily="18" charset="0"/>
                        </a:rPr>
                        <a:t>-based feature extraction, combined with data augmentation and Grad-CAM, will be incorporated into our framework for DR severity grading.</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Combines DR classification with visual explanations of important retinal regions.</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Class imbalance and differences between adjacent DR stages remain challenging.</a:t>
                      </a:r>
                      <a:endParaRPr lang="en-US"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2099780974"/>
                  </a:ext>
                </a:extLst>
              </a:tr>
              <a:tr h="1640423">
                <a:tc>
                  <a:txBody>
                    <a:bodyPr/>
                    <a:lstStyle/>
                    <a:p>
                      <a:pPr marL="0" marR="0" lvl="0" indent="0" algn="l" rtl="0">
                        <a:spcBef>
                          <a:spcPts val="0"/>
                        </a:spcBef>
                        <a:spcAft>
                          <a:spcPts val="0"/>
                        </a:spcAft>
                        <a:buNone/>
                      </a:pPr>
                      <a:r>
                        <a:rPr lang="en-US" sz="120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2</a:t>
                      </a:r>
                      <a:endParaRPr sz="120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A Clinically Interpretable Deep Learning Pipeline for Diabetic Retinopathy Classification Using </a:t>
                      </a:r>
                      <a:r>
                        <a:rPr lang="en-IN" sz="1200" dirty="0" err="1">
                          <a:solidFill>
                            <a:schemeClr val="accent2"/>
                          </a:solidFill>
                          <a:latin typeface="Times New Roman" panose="02020603050405020304" pitchFamily="18" charset="0"/>
                          <a:cs typeface="Times New Roman" panose="02020603050405020304" pitchFamily="18" charset="0"/>
                        </a:rPr>
                        <a:t>EfficientNet</a:t>
                      </a:r>
                      <a:r>
                        <a:rPr lang="en-IN" sz="1200" dirty="0">
                          <a:solidFill>
                            <a:schemeClr val="accent2"/>
                          </a:solidFill>
                          <a:latin typeface="Times New Roman" panose="02020603050405020304" pitchFamily="18" charset="0"/>
                          <a:cs typeface="Times New Roman" panose="02020603050405020304" pitchFamily="18" charset="0"/>
                        </a:rPr>
                        <a:t>, Advanced Data Augmentation and </a:t>
                      </a:r>
                      <a:r>
                        <a:rPr lang="en-IN" sz="1200" dirty="0" err="1">
                          <a:solidFill>
                            <a:schemeClr val="accent2"/>
                          </a:solidFill>
                          <a:latin typeface="Times New Roman" panose="02020603050405020304" pitchFamily="18" charset="0"/>
                          <a:cs typeface="Times New Roman" panose="02020603050405020304" pitchFamily="18" charset="0"/>
                        </a:rPr>
                        <a:t>GradCAM</a:t>
                      </a:r>
                      <a:endParaRPr lang="en-US"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Rashid Ali, Fiaz Gul Khan, Zia Ur Rehman, Daehan Kwak, Farman Ali</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IEEE Journal of Biomedical and Health Informatics, 2025</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b="0" dirty="0">
                          <a:solidFill>
                            <a:schemeClr val="accent2"/>
                          </a:solidFill>
                          <a:latin typeface="Times New Roman" panose="02020603050405020304" pitchFamily="18" charset="0"/>
                          <a:cs typeface="Times New Roman" panose="02020603050405020304" pitchFamily="18" charset="0"/>
                        </a:rPr>
                        <a:t>The project takes the Explainable AI approach from this work to make model predictions more understandable and transparent.</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Uses </a:t>
                      </a:r>
                      <a:r>
                        <a:rPr lang="en-IN" sz="1200" dirty="0" err="1">
                          <a:solidFill>
                            <a:schemeClr val="accent2"/>
                          </a:solidFill>
                          <a:latin typeface="Times New Roman" panose="02020603050405020304" pitchFamily="18" charset="0"/>
                          <a:cs typeface="Times New Roman" panose="02020603050405020304" pitchFamily="18" charset="0"/>
                        </a:rPr>
                        <a:t>unlabeled</a:t>
                      </a:r>
                      <a:r>
                        <a:rPr lang="en-IN" sz="1200" dirty="0">
                          <a:solidFill>
                            <a:schemeClr val="accent2"/>
                          </a:solidFill>
                          <a:latin typeface="Times New Roman" panose="02020603050405020304" pitchFamily="18" charset="0"/>
                          <a:cs typeface="Times New Roman" panose="02020603050405020304" pitchFamily="18" charset="0"/>
                        </a:rPr>
                        <a:t> data and Grad-CAM to improve DR detection and interpretability.</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200" dirty="0">
                          <a:solidFill>
                            <a:schemeClr val="accent2"/>
                          </a:solidFill>
                          <a:latin typeface="Times New Roman" panose="02020603050405020304" pitchFamily="18" charset="0"/>
                          <a:cs typeface="Times New Roman" panose="02020603050405020304" pitchFamily="18" charset="0"/>
                        </a:rPr>
                        <a:t>Unreliable pseudo-labels and imbalanced data can affect model learning</a:t>
                      </a:r>
                      <a:endParaRPr sz="12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176844179"/>
                  </a:ext>
                </a:extLst>
              </a:tr>
            </a:tbl>
          </a:graphicData>
        </a:graphic>
      </p:graphicFrame>
      <p:sp>
        <p:nvSpPr>
          <p:cNvPr id="6" name="TextBox 5">
            <a:extLst>
              <a:ext uri="{FF2B5EF4-FFF2-40B4-BE49-F238E27FC236}">
                <a16:creationId xmlns:a16="http://schemas.microsoft.com/office/drawing/2014/main" id="{55B29C8F-28F1-4194-77ED-542DDD311F99}"/>
              </a:ext>
            </a:extLst>
          </p:cNvPr>
          <p:cNvSpPr txBox="1"/>
          <p:nvPr/>
        </p:nvSpPr>
        <p:spPr>
          <a:xfrm>
            <a:off x="624274" y="4533585"/>
            <a:ext cx="4767944" cy="307777"/>
          </a:xfrm>
          <a:prstGeom prst="rect">
            <a:avLst/>
          </a:prstGeom>
          <a:noFill/>
        </p:spPr>
        <p:txBody>
          <a:bodyPr wrap="square" lIns="91440" tIns="45720" rIns="91440" bIns="45720" anchor="t">
            <a:spAutoFit/>
          </a:bodyPr>
          <a:lstStyle/>
          <a:p>
            <a:pPr>
              <a:lnSpc>
                <a:spcPct val="100000"/>
              </a:lnSpc>
              <a:tabLst>
                <a:tab pos="0" algn="l"/>
              </a:tabLst>
            </a:pPr>
            <a:r>
              <a:rPr lang="en-US" sz="1400" b="0" strike="noStrike" spc="-1" dirty="0">
                <a:solidFill>
                  <a:srgbClr val="000000"/>
                </a:solidFill>
                <a:latin typeface="Times New Roman"/>
                <a:ea typeface="Times New Roman"/>
              </a:rPr>
              <a:t>Batch No. </a:t>
            </a:r>
            <a:r>
              <a:rPr lang="en-US" sz="1400" spc="-1" dirty="0">
                <a:solidFill>
                  <a:srgbClr val="000000"/>
                </a:solidFill>
                <a:latin typeface="Times New Roman"/>
                <a:ea typeface="Times New Roman"/>
              </a:rPr>
              <a:t>C1                                        </a:t>
            </a:r>
            <a:r>
              <a:rPr lang="en-US" sz="1400" spc="-1" dirty="0">
                <a:solidFill>
                  <a:srgbClr val="000000"/>
                </a:solidFill>
                <a:latin typeface="Times New Roman"/>
                <a:ea typeface="Times New Roman"/>
                <a:hlinkClick r:id="rId4"/>
              </a:rPr>
              <a:t>Research_papers_20</a:t>
            </a:r>
            <a:endParaRPr lang="en-IN" sz="1400" b="0" strike="noStrike" spc="-1" dirty="0">
              <a:solidFill>
                <a:srgbClr val="000000"/>
              </a:solidFill>
              <a:latin typeface="Arial"/>
            </a:endParaRPr>
          </a:p>
        </p:txBody>
      </p:sp>
      <p:sp>
        <p:nvSpPr>
          <p:cNvPr id="8" name="TextBox 7">
            <a:extLst>
              <a:ext uri="{FF2B5EF4-FFF2-40B4-BE49-F238E27FC236}">
                <a16:creationId xmlns:a16="http://schemas.microsoft.com/office/drawing/2014/main" id="{831DF49B-FA31-CDEB-AAE4-6A45175BFD3F}"/>
              </a:ext>
            </a:extLst>
          </p:cNvPr>
          <p:cNvSpPr txBox="1"/>
          <p:nvPr/>
        </p:nvSpPr>
        <p:spPr>
          <a:xfrm>
            <a:off x="7779336" y="4591504"/>
            <a:ext cx="1016000" cy="369332"/>
          </a:xfrm>
          <a:prstGeom prst="rect">
            <a:avLst/>
          </a:prstGeom>
          <a:noFill/>
        </p:spPr>
        <p:txBody>
          <a:bodyPr wrap="square">
            <a:spAutoFit/>
          </a:bodyPr>
          <a:lstStyle/>
          <a:p>
            <a:pPr>
              <a:lnSpc>
                <a:spcPct val="100000"/>
              </a:lnSpc>
              <a:tabLst>
                <a:tab pos="0" algn="l"/>
              </a:tabLst>
            </a:pPr>
            <a:r>
              <a:rPr lang="en-US" sz="1800" b="0" strike="noStrike" spc="-1" dirty="0">
                <a:solidFill>
                  <a:srgbClr val="000000"/>
                </a:solidFill>
                <a:latin typeface="Arial"/>
                <a:ea typeface="Arial"/>
              </a:rPr>
              <a:t>Slide 6</a:t>
            </a:r>
            <a:endParaRPr lang="en-IN" sz="1800" b="0" strike="noStrike" spc="-1" dirty="0">
              <a:solidFill>
                <a:srgbClr val="000000"/>
              </a:solidFill>
              <a:latin typeface="Arial"/>
            </a:endParaRPr>
          </a:p>
        </p:txBody>
      </p:sp>
    </p:spTree>
    <p:extLst>
      <p:ext uri="{BB962C8B-B14F-4D97-AF65-F5344CB8AC3E}">
        <p14:creationId xmlns:p14="http://schemas.microsoft.com/office/powerpoint/2010/main" val="242807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BC83-6963-8FCB-BA29-C32D465D2E4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1F7661D-BEFB-3234-CAFE-BAF77FA8636C}"/>
              </a:ext>
            </a:extLst>
          </p:cNvPr>
          <p:cNvPicPr>
            <a:picLocks noChangeAspect="1"/>
          </p:cNvPicPr>
          <p:nvPr/>
        </p:nvPicPr>
        <p:blipFill>
          <a:blip r:embed="rId2"/>
          <a:stretch>
            <a:fillRect/>
          </a:stretch>
        </p:blipFill>
        <p:spPr>
          <a:xfrm>
            <a:off x="220439" y="166181"/>
            <a:ext cx="1355522" cy="337186"/>
          </a:xfrm>
          <a:prstGeom prst="rect">
            <a:avLst/>
          </a:prstGeom>
        </p:spPr>
      </p:pic>
      <p:sp>
        <p:nvSpPr>
          <p:cNvPr id="5" name="TextBox 4">
            <a:extLst>
              <a:ext uri="{FF2B5EF4-FFF2-40B4-BE49-F238E27FC236}">
                <a16:creationId xmlns:a16="http://schemas.microsoft.com/office/drawing/2014/main" id="{FEC348D3-3B41-3145-7B5E-0124E2F55D69}"/>
              </a:ext>
            </a:extLst>
          </p:cNvPr>
          <p:cNvSpPr txBox="1"/>
          <p:nvPr/>
        </p:nvSpPr>
        <p:spPr>
          <a:xfrm>
            <a:off x="2097314" y="334774"/>
            <a:ext cx="4572000" cy="535531"/>
          </a:xfrm>
          <a:prstGeom prst="rect">
            <a:avLst/>
          </a:prstGeom>
          <a:noFill/>
        </p:spPr>
        <p:txBody>
          <a:bodyPr wrap="square">
            <a:spAutoFit/>
          </a:bodyPr>
          <a:lstStyle/>
          <a:p>
            <a:pPr algn="ctr">
              <a:lnSpc>
                <a:spcPct val="90000"/>
              </a:lnSpc>
              <a:tabLst>
                <a:tab pos="0" algn="l"/>
              </a:tabLst>
            </a:pPr>
            <a:r>
              <a:rPr lang="en-US" sz="3200" b="0" strike="noStrike" spc="-1">
                <a:solidFill>
                  <a:srgbClr val="FF0000"/>
                </a:solidFill>
                <a:latin typeface="Times New Roman" panose="02020603050405020304" pitchFamily="18" charset="0"/>
                <a:cs typeface="Times New Roman" panose="02020603050405020304" pitchFamily="18" charset="0"/>
              </a:rPr>
              <a:t>Liter</a:t>
            </a:r>
            <a:r>
              <a:rPr lang="en-US" sz="3200" spc="-1">
                <a:solidFill>
                  <a:srgbClr val="FF0000"/>
                </a:solidFill>
                <a:latin typeface="Times New Roman" panose="02020603050405020304" pitchFamily="18" charset="0"/>
                <a:cs typeface="Times New Roman" panose="02020603050405020304" pitchFamily="18" charset="0"/>
              </a:rPr>
              <a:t>ature Survey</a:t>
            </a:r>
            <a:endParaRPr lang="en-IN" sz="3200" b="0" strike="noStrike" spc="-1">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96A0636C-ACD9-69C2-91A0-0EF574B313D0}"/>
              </a:ext>
            </a:extLst>
          </p:cNvPr>
          <p:cNvGraphicFramePr>
            <a:graphicFrameLocks noGrp="1"/>
          </p:cNvGraphicFramePr>
          <p:nvPr>
            <p:extLst>
              <p:ext uri="{D42A27DB-BD31-4B8C-83A1-F6EECF244321}">
                <p14:modId xmlns:p14="http://schemas.microsoft.com/office/powerpoint/2010/main" val="3375218410"/>
              </p:ext>
            </p:extLst>
          </p:nvPr>
        </p:nvGraphicFramePr>
        <p:xfrm>
          <a:off x="661308" y="887511"/>
          <a:ext cx="7821384" cy="3731544"/>
        </p:xfrm>
        <a:graphic>
          <a:graphicData uri="http://schemas.openxmlformats.org/drawingml/2006/table">
            <a:tbl>
              <a:tblPr firstRow="1" bandRow="1">
                <a:noFill/>
              </a:tblPr>
              <a:tblGrid>
                <a:gridCol w="235229">
                  <a:extLst>
                    <a:ext uri="{9D8B030D-6E8A-4147-A177-3AD203B41FA5}">
                      <a16:colId xmlns:a16="http://schemas.microsoft.com/office/drawing/2014/main" val="1787227465"/>
                    </a:ext>
                  </a:extLst>
                </a:gridCol>
                <a:gridCol w="1405792">
                  <a:extLst>
                    <a:ext uri="{9D8B030D-6E8A-4147-A177-3AD203B41FA5}">
                      <a16:colId xmlns:a16="http://schemas.microsoft.com/office/drawing/2014/main" val="320111757"/>
                    </a:ext>
                  </a:extLst>
                </a:gridCol>
                <a:gridCol w="1085850">
                  <a:extLst>
                    <a:ext uri="{9D8B030D-6E8A-4147-A177-3AD203B41FA5}">
                      <a16:colId xmlns:a16="http://schemas.microsoft.com/office/drawing/2014/main" val="1646582490"/>
                    </a:ext>
                  </a:extLst>
                </a:gridCol>
                <a:gridCol w="945685">
                  <a:extLst>
                    <a:ext uri="{9D8B030D-6E8A-4147-A177-3AD203B41FA5}">
                      <a16:colId xmlns:a16="http://schemas.microsoft.com/office/drawing/2014/main" val="1263926445"/>
                    </a:ext>
                  </a:extLst>
                </a:gridCol>
                <a:gridCol w="1472122">
                  <a:extLst>
                    <a:ext uri="{9D8B030D-6E8A-4147-A177-3AD203B41FA5}">
                      <a16:colId xmlns:a16="http://schemas.microsoft.com/office/drawing/2014/main" val="1237518579"/>
                    </a:ext>
                  </a:extLst>
                </a:gridCol>
                <a:gridCol w="1272450">
                  <a:extLst>
                    <a:ext uri="{9D8B030D-6E8A-4147-A177-3AD203B41FA5}">
                      <a16:colId xmlns:a16="http://schemas.microsoft.com/office/drawing/2014/main" val="3856997143"/>
                    </a:ext>
                  </a:extLst>
                </a:gridCol>
                <a:gridCol w="1404256">
                  <a:extLst>
                    <a:ext uri="{9D8B030D-6E8A-4147-A177-3AD203B41FA5}">
                      <a16:colId xmlns:a16="http://schemas.microsoft.com/office/drawing/2014/main" val="1786107843"/>
                    </a:ext>
                  </a:extLst>
                </a:gridCol>
              </a:tblGrid>
              <a:tr h="454561">
                <a:tc>
                  <a:txBody>
                    <a:bodyPr/>
                    <a:lstStyle/>
                    <a:p>
                      <a:pPr marL="0" marR="0" lvl="0" indent="0" algn="ctr" rtl="0">
                        <a:spcBef>
                          <a:spcPts val="0"/>
                        </a:spcBef>
                        <a:spcAft>
                          <a:spcPts val="0"/>
                        </a:spcAft>
                        <a:buNone/>
                      </a:pPr>
                      <a:r>
                        <a:rPr lang="en-US" sz="13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a:t>
                      </a:r>
                      <a:endParaRPr sz="13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Title</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Author</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Journal Name &amp; Year</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Methodology Adapted</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Findings </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Gaps</a:t>
                      </a:r>
                      <a:endParaRPr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914630296"/>
                  </a:ext>
                </a:extLst>
              </a:tr>
              <a:tr h="865298">
                <a:tc>
                  <a:txBody>
                    <a:bodyPr/>
                    <a:lstStyle/>
                    <a:p>
                      <a:pPr marL="0" marR="0" lvl="0" indent="0" algn="l" rtl="0">
                        <a:spcBef>
                          <a:spcPts val="0"/>
                        </a:spcBef>
                        <a:spcAft>
                          <a:spcPts val="0"/>
                        </a:spcAft>
                        <a:buNone/>
                      </a:pPr>
                      <a:r>
                        <a:rPr lang="en-US" sz="1300" u="none" strike="noStrike" cap="none">
                          <a:solidFill>
                            <a:schemeClr val="accent2"/>
                          </a:solidFill>
                          <a:latin typeface="Times New Roman" panose="02020603050405020304" pitchFamily="18" charset="0"/>
                          <a:ea typeface="Times New Roman" panose="02020603050405020304"/>
                          <a:cs typeface="Times New Roman" panose="02020603050405020304" pitchFamily="18" charset="0"/>
                        </a:rPr>
                        <a:t>3</a:t>
                      </a:r>
                      <a:endParaRPr sz="1300" u="none" strike="noStrike" cap="none"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Diabetic Retinopathy Assessment through Multitask Learning Approach on Heterogeneous Fundus Image Datasets</a:t>
                      </a:r>
                      <a:endParaRPr lang="en-US" sz="1300" b="0" i="0" u="none" strike="noStrike" cap="none" dirty="0">
                        <a:solidFill>
                          <a:schemeClr val="accent2"/>
                        </a:solidFill>
                        <a:latin typeface="Times New Roman" panose="02020603050405020304" pitchFamily="18" charset="0"/>
                        <a:cs typeface="Times New Roman" panose="02020603050405020304" pitchFamily="18" charset="0"/>
                        <a:sym typeface="Arial" panose="020B0604020202020204"/>
                      </a:endParaRPr>
                    </a:p>
                  </a:txBody>
                  <a:tcPr marL="6350" marR="6350" marT="6350" marB="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err="1">
                          <a:solidFill>
                            <a:schemeClr val="accent2"/>
                          </a:solidFill>
                          <a:latin typeface="Times New Roman" panose="02020603050405020304" pitchFamily="18" charset="0"/>
                          <a:cs typeface="Times New Roman" panose="02020603050405020304" pitchFamily="18" charset="0"/>
                        </a:rPr>
                        <a:t>Hongkang</a:t>
                      </a:r>
                      <a:r>
                        <a:rPr lang="en-IN" sz="1300" dirty="0">
                          <a:solidFill>
                            <a:schemeClr val="accent2"/>
                          </a:solidFill>
                          <a:latin typeface="Times New Roman" panose="02020603050405020304" pitchFamily="18" charset="0"/>
                          <a:cs typeface="Times New Roman" panose="02020603050405020304" pitchFamily="18" charset="0"/>
                        </a:rPr>
                        <a:t> Wu, Kai Jin, Yiyang Jing, </a:t>
                      </a:r>
                      <a:r>
                        <a:rPr lang="en-IN" sz="1300" dirty="0" err="1">
                          <a:solidFill>
                            <a:schemeClr val="accent2"/>
                          </a:solidFill>
                          <a:latin typeface="Times New Roman" panose="02020603050405020304" pitchFamily="18" charset="0"/>
                          <a:cs typeface="Times New Roman" panose="02020603050405020304" pitchFamily="18" charset="0"/>
                        </a:rPr>
                        <a:t>Wenyue</a:t>
                      </a:r>
                      <a:r>
                        <a:rPr lang="en-IN" sz="1300" dirty="0">
                          <a:solidFill>
                            <a:schemeClr val="accent2"/>
                          </a:solidFill>
                          <a:latin typeface="Times New Roman" panose="02020603050405020304" pitchFamily="18" charset="0"/>
                          <a:cs typeface="Times New Roman" panose="02020603050405020304" pitchFamily="18" charset="0"/>
                        </a:rPr>
                        <a:t> Shen, Yih Chung Tham, </a:t>
                      </a:r>
                      <a:r>
                        <a:rPr lang="en-IN" sz="1300" dirty="0" err="1">
                          <a:solidFill>
                            <a:schemeClr val="accent2"/>
                          </a:solidFill>
                          <a:latin typeface="Times New Roman" panose="02020603050405020304" pitchFamily="18" charset="0"/>
                          <a:cs typeface="Times New Roman" panose="02020603050405020304" pitchFamily="18" charset="0"/>
                        </a:rPr>
                        <a:t>Xiangji</a:t>
                      </a:r>
                      <a:r>
                        <a:rPr lang="en-IN" sz="1300" dirty="0">
                          <a:solidFill>
                            <a:schemeClr val="accent2"/>
                          </a:solidFill>
                          <a:latin typeface="Times New Roman" panose="02020603050405020304" pitchFamily="18" charset="0"/>
                          <a:cs typeface="Times New Roman" panose="02020603050405020304" pitchFamily="18" charset="0"/>
                        </a:rPr>
                        <a:t> Pan</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r>
                        <a:rPr lang="en-IN" sz="1300" dirty="0">
                          <a:solidFill>
                            <a:schemeClr val="accent2"/>
                          </a:solidFill>
                          <a:latin typeface="Times New Roman" panose="02020603050405020304" pitchFamily="18" charset="0"/>
                          <a:cs typeface="Times New Roman" panose="02020603050405020304" pitchFamily="18" charset="0"/>
                        </a:rPr>
                        <a:t>Ophthalmology Science, 2025</a:t>
                      </a:r>
                      <a:endParaRPr lang="en-US" sz="1300" dirty="0">
                        <a:solidFill>
                          <a:schemeClr val="accent2"/>
                        </a:solidFill>
                        <a:latin typeface="Times New Roman" panose="02020603050405020304" pitchFamily="18" charset="0"/>
                        <a:cs typeface="Times New Roman" panose="02020603050405020304" pitchFamily="18" charset="0"/>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b="0" dirty="0">
                          <a:solidFill>
                            <a:schemeClr val="accent2"/>
                          </a:solidFill>
                          <a:latin typeface="Times New Roman" panose="02020603050405020304" pitchFamily="18" charset="0"/>
                          <a:cs typeface="Times New Roman" panose="02020603050405020304" pitchFamily="18" charset="0"/>
                        </a:rPr>
                        <a:t>Clinical fundus image analysis and multitask learning concepts are considered to support training with real-world retinal images.</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Uses clinical fundus images with ophthalmologist annotations and external validation.</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Small sample size for some lesion types and limited representation across countries/ethnic groups.</a:t>
                      </a:r>
                      <a:endParaRPr lang="en-US"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1654124057"/>
                  </a:ext>
                </a:extLst>
              </a:tr>
              <a:tr h="1257081">
                <a:tc>
                  <a:txBody>
                    <a:bodyPr/>
                    <a:lstStyle/>
                    <a:p>
                      <a:pPr marL="0" marR="0" lvl="0" indent="0" algn="l" rtl="0">
                        <a:spcBef>
                          <a:spcPts val="0"/>
                        </a:spcBef>
                        <a:spcAft>
                          <a:spcPts val="0"/>
                        </a:spcAft>
                        <a:buNone/>
                      </a:pPr>
                      <a:r>
                        <a:rPr lang="en-US" sz="1300">
                          <a:solidFill>
                            <a:schemeClr val="accent2"/>
                          </a:solidFill>
                          <a:latin typeface="Times New Roman" panose="02020603050405020304" pitchFamily="18" charset="0"/>
                          <a:ea typeface="Times New Roman" panose="02020603050405020304"/>
                          <a:cs typeface="Times New Roman" panose="02020603050405020304" pitchFamily="18" charset="0"/>
                        </a:rPr>
                        <a:t>4</a:t>
                      </a:r>
                      <a:endParaRPr sz="1300"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Smart Grading of Diabetic Retinopathy: An Intelligent Recommendation-Based Fine-Tuned EfficientNetB0 Framework</a:t>
                      </a:r>
                      <a:endParaRPr lang="en-US"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Vatsala Anand, Deepika </a:t>
                      </a:r>
                      <a:r>
                        <a:rPr lang="en-IN" sz="1300" dirty="0" err="1">
                          <a:solidFill>
                            <a:schemeClr val="accent2"/>
                          </a:solidFill>
                          <a:latin typeface="Times New Roman" panose="02020603050405020304" pitchFamily="18" charset="0"/>
                          <a:cs typeface="Times New Roman" panose="02020603050405020304" pitchFamily="18" charset="0"/>
                        </a:rPr>
                        <a:t>Koundal</a:t>
                      </a:r>
                      <a:r>
                        <a:rPr lang="en-IN" sz="1300" dirty="0">
                          <a:solidFill>
                            <a:schemeClr val="accent2"/>
                          </a:solidFill>
                          <a:latin typeface="Times New Roman" panose="02020603050405020304" pitchFamily="18" charset="0"/>
                          <a:cs typeface="Times New Roman" panose="02020603050405020304" pitchFamily="18" charset="0"/>
                        </a:rPr>
                        <a:t>, Wael Y. Alghamdi, Bayan M. </a:t>
                      </a:r>
                      <a:r>
                        <a:rPr lang="en-IN" sz="1300" dirty="0" err="1">
                          <a:solidFill>
                            <a:schemeClr val="accent2"/>
                          </a:solidFill>
                          <a:latin typeface="Times New Roman" panose="02020603050405020304" pitchFamily="18" charset="0"/>
                          <a:cs typeface="Times New Roman" panose="02020603050405020304" pitchFamily="18" charset="0"/>
                        </a:rPr>
                        <a:t>Alsharbi</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Frontiers in Artificial Intelligence, 2024</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b="0" dirty="0">
                          <a:solidFill>
                            <a:schemeClr val="accent2"/>
                          </a:solidFill>
                          <a:latin typeface="Times New Roman" panose="02020603050405020304" pitchFamily="18" charset="0"/>
                          <a:cs typeface="Times New Roman" panose="02020603050405020304" pitchFamily="18" charset="0"/>
                        </a:rPr>
                        <a:t>Transfer learning using EfficientNet-B0 forms the basis of our deep learning model for five-level DR classification.</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Shows the effectiveness of EfficientNet-B0 for automated DR grading.</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l" rtl="0" fontAlgn="ctr">
                        <a:lnSpc>
                          <a:spcPct val="90000"/>
                        </a:lnSpc>
                        <a:spcBef>
                          <a:spcPts val="0"/>
                        </a:spcBef>
                        <a:spcAft>
                          <a:spcPts val="0"/>
                        </a:spcAft>
                        <a:buClr>
                          <a:srgbClr val="000000"/>
                        </a:buClr>
                        <a:buFont typeface="Arial" panose="020B0604020202020204"/>
                        <a:buNone/>
                      </a:pPr>
                      <a:r>
                        <a:rPr lang="en-IN" sz="1300" dirty="0">
                          <a:solidFill>
                            <a:schemeClr val="accent2"/>
                          </a:solidFill>
                          <a:latin typeface="Times New Roman" panose="02020603050405020304" pitchFamily="18" charset="0"/>
                          <a:cs typeface="Times New Roman" panose="02020603050405020304" pitchFamily="18" charset="0"/>
                        </a:rPr>
                        <a:t>Performance can vary across datasets; large-scale validation and fine-tuning are required.</a:t>
                      </a:r>
                      <a:endParaRPr sz="13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extLst>
                  <a:ext uri="{0D108BD9-81ED-4DB2-BD59-A6C34878D82A}">
                    <a16:rowId xmlns:a16="http://schemas.microsoft.com/office/drawing/2014/main" val="2222325135"/>
                  </a:ext>
                </a:extLst>
              </a:tr>
            </a:tbl>
          </a:graphicData>
        </a:graphic>
      </p:graphicFrame>
      <p:sp>
        <p:nvSpPr>
          <p:cNvPr id="6" name="TextBox 5">
            <a:extLst>
              <a:ext uri="{FF2B5EF4-FFF2-40B4-BE49-F238E27FC236}">
                <a16:creationId xmlns:a16="http://schemas.microsoft.com/office/drawing/2014/main" id="{D7D198E6-CA99-0244-4CFF-1ADD4F1F002E}"/>
              </a:ext>
            </a:extLst>
          </p:cNvPr>
          <p:cNvSpPr txBox="1"/>
          <p:nvPr/>
        </p:nvSpPr>
        <p:spPr>
          <a:xfrm>
            <a:off x="587828" y="4713473"/>
            <a:ext cx="4572000" cy="307777"/>
          </a:xfrm>
          <a:prstGeom prst="rect">
            <a:avLst/>
          </a:prstGeom>
          <a:noFill/>
        </p:spPr>
        <p:txBody>
          <a:bodyPr wrap="square" lIns="91440" tIns="45720" rIns="91440" bIns="45720" anchor="t">
            <a:spAutoFit/>
          </a:bodyPr>
          <a:lstStyle/>
          <a:p>
            <a:pPr>
              <a:lnSpc>
                <a:spcPct val="100000"/>
              </a:lnSpc>
              <a:tabLst>
                <a:tab pos="0" algn="l"/>
              </a:tabLst>
            </a:pPr>
            <a:r>
              <a:rPr lang="en-US" sz="1400" b="0" strike="noStrike" spc="-1" dirty="0">
                <a:solidFill>
                  <a:srgbClr val="000000"/>
                </a:solidFill>
                <a:latin typeface="Times New Roman"/>
                <a:ea typeface="Times New Roman"/>
              </a:rPr>
              <a:t>Batch No. </a:t>
            </a:r>
            <a:r>
              <a:rPr lang="en-US" sz="1400" spc="-1" dirty="0">
                <a:solidFill>
                  <a:srgbClr val="000000"/>
                </a:solidFill>
                <a:latin typeface="Times New Roman"/>
                <a:ea typeface="Times New Roman"/>
              </a:rPr>
              <a:t>C1                                           </a:t>
            </a:r>
            <a:r>
              <a:rPr lang="en-US" sz="1400" spc="-1" dirty="0">
                <a:solidFill>
                  <a:srgbClr val="000000"/>
                </a:solidFill>
                <a:latin typeface="Times New Roman"/>
                <a:ea typeface="Times New Roman"/>
                <a:hlinkClick r:id="rId3"/>
              </a:rPr>
              <a:t>Research_Papers_20</a:t>
            </a:r>
            <a:endParaRPr lang="en-IN" sz="1400" b="0" strike="noStrike" spc="-1" dirty="0">
              <a:solidFill>
                <a:srgbClr val="000000"/>
              </a:solidFill>
              <a:latin typeface="Arial"/>
            </a:endParaRPr>
          </a:p>
        </p:txBody>
      </p:sp>
      <p:sp>
        <p:nvSpPr>
          <p:cNvPr id="8" name="TextBox 7">
            <a:extLst>
              <a:ext uri="{FF2B5EF4-FFF2-40B4-BE49-F238E27FC236}">
                <a16:creationId xmlns:a16="http://schemas.microsoft.com/office/drawing/2014/main" id="{88D038DE-6148-EB98-1D92-18435EE61B65}"/>
              </a:ext>
            </a:extLst>
          </p:cNvPr>
          <p:cNvSpPr txBox="1"/>
          <p:nvPr/>
        </p:nvSpPr>
        <p:spPr>
          <a:xfrm>
            <a:off x="7855857" y="4674867"/>
            <a:ext cx="965200" cy="369332"/>
          </a:xfrm>
          <a:prstGeom prst="rect">
            <a:avLst/>
          </a:prstGeom>
          <a:noFill/>
        </p:spPr>
        <p:txBody>
          <a:bodyPr wrap="square">
            <a:spAutoFit/>
          </a:bodyPr>
          <a:lstStyle/>
          <a:p>
            <a:pPr>
              <a:lnSpc>
                <a:spcPct val="100000"/>
              </a:lnSpc>
              <a:tabLst>
                <a:tab pos="0" algn="l"/>
              </a:tabLst>
            </a:pPr>
            <a:r>
              <a:rPr lang="en-US" sz="1800" b="0" strike="noStrike" spc="-1" dirty="0">
                <a:solidFill>
                  <a:srgbClr val="000000"/>
                </a:solidFill>
                <a:latin typeface="Arial"/>
                <a:ea typeface="Arial"/>
              </a:rPr>
              <a:t>Slide 7</a:t>
            </a:r>
            <a:endParaRPr lang="en-IN" sz="1800" b="0" strike="noStrike" spc="-1" dirty="0">
              <a:solidFill>
                <a:srgbClr val="000000"/>
              </a:solidFill>
              <a:latin typeface="Arial"/>
            </a:endParaRPr>
          </a:p>
        </p:txBody>
      </p:sp>
    </p:spTree>
    <p:extLst>
      <p:ext uri="{BB962C8B-B14F-4D97-AF65-F5344CB8AC3E}">
        <p14:creationId xmlns:p14="http://schemas.microsoft.com/office/powerpoint/2010/main" val="4068604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Google Shape;102;g353458fbea5_0_ 2"/>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p:cNvSpPr/>
          <p:nvPr/>
        </p:nvSpPr>
        <p:spPr>
          <a:xfrm>
            <a:off x="201945" y="169485"/>
            <a:ext cx="8489160" cy="8319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90000"/>
              </a:lnSpc>
              <a:tabLst>
                <a:tab pos="0" algn="l"/>
              </a:tabLst>
            </a:pPr>
            <a:r>
              <a:rPr lang="en-US" sz="3600" b="0" strike="noStrike" spc="-1">
                <a:solidFill>
                  <a:schemeClr val="dk1"/>
                </a:solidFill>
                <a:latin typeface="Times New Roman" panose="02020603050405020304" pitchFamily="18" charset="0"/>
                <a:ea typeface="Noto Serif Ethiopic"/>
                <a:cs typeface="Times New Roman" panose="02020603050405020304" pitchFamily="18" charset="0"/>
              </a:rPr>
              <a:t>	</a:t>
            </a:r>
            <a:r>
              <a:rPr lang="en-US" sz="3600" b="0" strike="noStrike" spc="-1">
                <a:solidFill>
                  <a:srgbClr val="FF0000"/>
                </a:solidFill>
                <a:latin typeface="Times New Roman" panose="02020603050405020304" pitchFamily="18" charset="0"/>
                <a:ea typeface="Noto Serif Ethiopic"/>
                <a:cs typeface="Times New Roman" panose="02020603050405020304" pitchFamily="18" charset="0"/>
              </a:rPr>
              <a:t>Objectives</a:t>
            </a:r>
            <a:endParaRPr lang="en-IN" sz="3600" b="0" strike="noStrike" spc="-1">
              <a:solidFill>
                <a:srgbClr val="FF0000"/>
              </a:solidFill>
              <a:latin typeface="Times New Roman" panose="02020603050405020304" pitchFamily="18" charset="0"/>
              <a:cs typeface="Times New Roman" panose="02020603050405020304" pitchFamily="18" charset="0"/>
            </a:endParaRPr>
          </a:p>
        </p:txBody>
      </p:sp>
      <p:sp>
        <p:nvSpPr>
          <p:cNvPr id="113" name="Google Shape;105;g353458fbea5_0_ 2"/>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p:cNvSpPr/>
          <p:nvPr/>
        </p:nvSpPr>
        <p:spPr>
          <a:xfrm>
            <a:off x="7785000" y="4589640"/>
            <a:ext cx="95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8</a:t>
            </a:r>
            <a:endParaRPr lang="en-IN" sz="1800" b="0" strike="noStrike" spc="-1" dirty="0">
              <a:solidFill>
                <a:srgbClr val="000000"/>
              </a:solidFill>
              <a:latin typeface="Arial"/>
            </a:endParaRPr>
          </a:p>
        </p:txBody>
      </p:sp>
      <p:sp>
        <p:nvSpPr>
          <p:cNvPr id="5" name="Rectangle 2">
            <a:extLst>
              <a:ext uri="{FF2B5EF4-FFF2-40B4-BE49-F238E27FC236}">
                <a16:creationId xmlns:a16="http://schemas.microsoft.com/office/drawing/2014/main" id="{C3790F6F-0190-9EBA-6E90-AA13E2A9A456}"/>
              </a:ext>
            </a:extLst>
          </p:cNvPr>
          <p:cNvSpPr>
            <a:spLocks noChangeArrowheads="1"/>
          </p:cNvSpPr>
          <p:nvPr/>
        </p:nvSpPr>
        <p:spPr bwMode="auto">
          <a:xfrm>
            <a:off x="584706" y="1545814"/>
            <a:ext cx="7974588" cy="2128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spcBef>
                <a:spcPct val="0"/>
              </a:spcBef>
              <a:spcAft>
                <a:spcPct val="0"/>
              </a:spcAft>
              <a:buFont typeface="Arial,Sans-Serif" panose="020B0604020202020204" pitchFamily="34" charset="0"/>
              <a:buChar char="•"/>
            </a:pPr>
            <a:r>
              <a:rPr lang="en-IN" sz="1500" dirty="0">
                <a:solidFill>
                  <a:srgbClr val="000000"/>
                </a:solidFill>
                <a:latin typeface="Times New Roman"/>
                <a:cs typeface="Times New Roman"/>
              </a:rPr>
              <a:t>To develop an automated deep learning model using EfficientNet-B0 with transfer learning for classifying retinal fundus images into five diabetic retinopathy severity levels. </a:t>
            </a:r>
            <a:endParaRPr lang="en-US" sz="1500" dirty="0">
              <a:solidFill>
                <a:srgbClr val="000000"/>
              </a:solidFill>
              <a:latin typeface="Times New Roman"/>
              <a:cs typeface="Times New Roman"/>
            </a:endParaRPr>
          </a:p>
          <a:p>
            <a:pPr marL="285750" indent="-285750" algn="just">
              <a:lnSpc>
                <a:spcPct val="150000"/>
              </a:lnSpc>
              <a:spcBef>
                <a:spcPct val="0"/>
              </a:spcBef>
              <a:spcAft>
                <a:spcPct val="0"/>
              </a:spcAft>
              <a:buFont typeface="Arial,Sans-Serif" panose="020B0604020202020204" pitchFamily="34" charset="0"/>
              <a:buChar char="•"/>
            </a:pPr>
            <a:r>
              <a:rPr lang="en-IN" sz="1500" dirty="0">
                <a:solidFill>
                  <a:srgbClr val="000000"/>
                </a:solidFill>
                <a:latin typeface="Times New Roman"/>
                <a:cs typeface="Times New Roman"/>
              </a:rPr>
              <a:t>To improve the interpretability of the model by integrating Grad-CAM to visualize retinal regions influencing the classification. </a:t>
            </a:r>
            <a:endParaRPr lang="en-US" sz="1500" dirty="0">
              <a:solidFill>
                <a:srgbClr val="000000"/>
              </a:solidFill>
              <a:latin typeface="Times New Roman"/>
              <a:cs typeface="Times New Roman"/>
            </a:endParaRPr>
          </a:p>
          <a:p>
            <a:pPr marL="285750" indent="-285750" algn="just">
              <a:lnSpc>
                <a:spcPct val="150000"/>
              </a:lnSpc>
              <a:spcBef>
                <a:spcPct val="0"/>
              </a:spcBef>
              <a:spcAft>
                <a:spcPct val="0"/>
              </a:spcAft>
              <a:buFont typeface="Arial,Sans-Serif" panose="020B0604020202020204" pitchFamily="34" charset="0"/>
              <a:buChar char="•"/>
            </a:pPr>
            <a:r>
              <a:rPr lang="en-IN" sz="1500" dirty="0">
                <a:solidFill>
                  <a:srgbClr val="000000"/>
                </a:solidFill>
                <a:latin typeface="Times New Roman"/>
                <a:cs typeface="Times New Roman"/>
              </a:rPr>
              <a:t>To develop an accurate and explainable clinical decision-support system for early diabetic retinopathy screening and severity grading.</a:t>
            </a:r>
            <a:endParaRPr lang="en-US" sz="1500" dirty="0">
              <a:solidFill>
                <a:srgbClr val="000000"/>
              </a:solidFill>
              <a:latin typeface="Times New Roman"/>
              <a:cs typeface="Times New Roman"/>
            </a:endParaRPr>
          </a:p>
        </p:txBody>
      </p:sp>
      <p:pic>
        <p:nvPicPr>
          <p:cNvPr id="4" name="Picture 3">
            <a:extLst>
              <a:ext uri="{FF2B5EF4-FFF2-40B4-BE49-F238E27FC236}">
                <a16:creationId xmlns:a16="http://schemas.microsoft.com/office/drawing/2014/main" id="{650347C6-C3DC-3EFF-DEAE-39FC0D637719}"/>
              </a:ext>
            </a:extLst>
          </p:cNvPr>
          <p:cNvPicPr>
            <a:picLocks noChangeAspect="1"/>
          </p:cNvPicPr>
          <p:nvPr/>
        </p:nvPicPr>
        <p:blipFill>
          <a:blip r:embed="rId2"/>
          <a:stretch>
            <a:fillRect/>
          </a:stretch>
        </p:blipFill>
        <p:spPr>
          <a:xfrm>
            <a:off x="220439" y="166181"/>
            <a:ext cx="1355522" cy="337186"/>
          </a:xfrm>
          <a:prstGeom prst="rect">
            <a:avLst/>
          </a:prstGeom>
        </p:spPr>
      </p:pic>
    </p:spTree>
    <p:extLst>
      <p:ext uri="{BB962C8B-B14F-4D97-AF65-F5344CB8AC3E}">
        <p14:creationId xmlns:p14="http://schemas.microsoft.com/office/powerpoint/2010/main" val="1554877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Google Shape;102;g353458fbea5_0_ 2"/>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p:cNvSpPr/>
          <p:nvPr/>
        </p:nvSpPr>
        <p:spPr>
          <a:xfrm>
            <a:off x="2173996" y="336705"/>
            <a:ext cx="4797653" cy="6644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a:solidFill>
                  <a:srgbClr val="FF0000"/>
                </a:solidFill>
                <a:latin typeface="Times New Roman" pitchFamily="18" charset="0"/>
                <a:cs typeface="Times New Roman" pitchFamily="18" charset="0"/>
              </a:rPr>
              <a:t>E</a:t>
            </a:r>
            <a:r>
              <a:rPr lang="en-IN" sz="3200" spc="-1" err="1">
                <a:solidFill>
                  <a:srgbClr val="FF0000"/>
                </a:solidFill>
                <a:latin typeface="Times New Roman" pitchFamily="18" charset="0"/>
                <a:cs typeface="Times New Roman" pitchFamily="18" charset="0"/>
              </a:rPr>
              <a:t>xisting</a:t>
            </a:r>
            <a:r>
              <a:rPr lang="en-IN" sz="3200" spc="-1">
                <a:solidFill>
                  <a:srgbClr val="FF0000"/>
                </a:solidFill>
                <a:latin typeface="Times New Roman" pitchFamily="18" charset="0"/>
                <a:cs typeface="Times New Roman" pitchFamily="18" charset="0"/>
              </a:rPr>
              <a:t> Systems</a:t>
            </a:r>
          </a:p>
        </p:txBody>
      </p:sp>
      <p:sp>
        <p:nvSpPr>
          <p:cNvPr id="113" name="Google Shape;105;g353458fbea5_0_ 2"/>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p:cNvSpPr/>
          <p:nvPr/>
        </p:nvSpPr>
        <p:spPr>
          <a:xfrm>
            <a:off x="7785000" y="4589640"/>
            <a:ext cx="95292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9</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CD17A41F-F0D8-2AC6-C4C8-2B3E17AA8A42}"/>
              </a:ext>
            </a:extLst>
          </p:cNvPr>
          <p:cNvPicPr>
            <a:picLocks noChangeAspect="1"/>
          </p:cNvPicPr>
          <p:nvPr/>
        </p:nvPicPr>
        <p:blipFill>
          <a:blip r:embed="rId2"/>
          <a:stretch>
            <a:fillRect/>
          </a:stretch>
        </p:blipFill>
        <p:spPr>
          <a:xfrm>
            <a:off x="220439" y="166181"/>
            <a:ext cx="1355522" cy="337186"/>
          </a:xfrm>
          <a:prstGeom prst="rect">
            <a:avLst/>
          </a:prstGeom>
        </p:spPr>
      </p:pic>
      <p:sp>
        <p:nvSpPr>
          <p:cNvPr id="5" name="TextBox 4">
            <a:extLst>
              <a:ext uri="{FF2B5EF4-FFF2-40B4-BE49-F238E27FC236}">
                <a16:creationId xmlns:a16="http://schemas.microsoft.com/office/drawing/2014/main" id="{0F315F93-7C1B-AAFE-0C67-C90381AD30A5}"/>
              </a:ext>
            </a:extLst>
          </p:cNvPr>
          <p:cNvSpPr txBox="1"/>
          <p:nvPr/>
        </p:nvSpPr>
        <p:spPr>
          <a:xfrm>
            <a:off x="654566" y="1253099"/>
            <a:ext cx="7834867" cy="29621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buFont typeface=""/>
              <a:buAutoNum type="arabicPeriod"/>
            </a:pPr>
            <a:r>
              <a:rPr lang="en-US" sz="1400" b="1" dirty="0">
                <a:solidFill>
                  <a:srgbClr val="000000"/>
                </a:solidFill>
                <a:latin typeface="Times New Roman"/>
                <a:cs typeface="Times New Roman"/>
              </a:rPr>
              <a:t>CNN-Based Diabetic Retinopathy Detection :</a:t>
            </a:r>
            <a:r>
              <a:rPr lang="en-US" sz="1400" dirty="0">
                <a:solidFill>
                  <a:srgbClr val="000000"/>
                </a:solidFill>
                <a:latin typeface="Times New Roman"/>
                <a:cs typeface="Times New Roman"/>
              </a:rPr>
              <a:t> A widely used deep learning approach that analyzes retinal fundus images using CNNs to detect diabetic retinopathy. It automatically learns important retinal features, but the predictions are often difficult to interpret. </a:t>
            </a:r>
            <a:endParaRPr lang="en-US" dirty="0">
              <a:solidFill>
                <a:srgbClr val="000000"/>
              </a:solidFill>
              <a:cs typeface="Arial"/>
            </a:endParaRPr>
          </a:p>
          <a:p>
            <a:pPr algn="just">
              <a:lnSpc>
                <a:spcPct val="150000"/>
              </a:lnSpc>
              <a:buFont typeface=""/>
              <a:buAutoNum type="arabicPeriod"/>
            </a:pPr>
            <a:r>
              <a:rPr lang="en-US" sz="1400" b="1" dirty="0">
                <a:solidFill>
                  <a:srgbClr val="000000"/>
                </a:solidFill>
                <a:latin typeface="Times New Roman"/>
                <a:cs typeface="Times New Roman"/>
              </a:rPr>
              <a:t>Transfer Learning-Based DR Grading :</a:t>
            </a:r>
            <a:r>
              <a:rPr lang="en-US" sz="1400" dirty="0">
                <a:solidFill>
                  <a:srgbClr val="000000"/>
                </a:solidFill>
                <a:latin typeface="Times New Roman"/>
                <a:cs typeface="Times New Roman"/>
              </a:rPr>
              <a:t> A deep learning approach using pre-trained models such as </a:t>
            </a:r>
            <a:r>
              <a:rPr lang="en-US" sz="1400" dirty="0" err="1">
                <a:solidFill>
                  <a:srgbClr val="000000"/>
                </a:solidFill>
                <a:latin typeface="Times New Roman"/>
                <a:cs typeface="Times New Roman"/>
              </a:rPr>
              <a:t>ResNet</a:t>
            </a:r>
            <a:r>
              <a:rPr lang="en-US" sz="1400" dirty="0">
                <a:solidFill>
                  <a:srgbClr val="000000"/>
                </a:solidFill>
                <a:latin typeface="Times New Roman"/>
                <a:cs typeface="Times New Roman"/>
              </a:rPr>
              <a:t>, </a:t>
            </a:r>
            <a:r>
              <a:rPr lang="en-US" sz="1400" dirty="0" err="1">
                <a:solidFill>
                  <a:srgbClr val="000000"/>
                </a:solidFill>
                <a:latin typeface="Times New Roman"/>
                <a:cs typeface="Times New Roman"/>
              </a:rPr>
              <a:t>DenseNet</a:t>
            </a:r>
            <a:r>
              <a:rPr lang="en-US" sz="1400" dirty="0">
                <a:solidFill>
                  <a:srgbClr val="000000"/>
                </a:solidFill>
                <a:latin typeface="Times New Roman"/>
                <a:cs typeface="Times New Roman"/>
              </a:rPr>
              <a:t>, </a:t>
            </a:r>
            <a:r>
              <a:rPr lang="en-US" sz="1400" dirty="0" err="1">
                <a:solidFill>
                  <a:srgbClr val="000000"/>
                </a:solidFill>
                <a:latin typeface="Times New Roman"/>
                <a:cs typeface="Times New Roman"/>
              </a:rPr>
              <a:t>EfficientNet</a:t>
            </a:r>
            <a:r>
              <a:rPr lang="en-US" sz="1400" dirty="0">
                <a:solidFill>
                  <a:srgbClr val="000000"/>
                </a:solidFill>
                <a:latin typeface="Times New Roman"/>
                <a:cs typeface="Times New Roman"/>
              </a:rPr>
              <a:t>, and Inception to classify diabetic retinopathy into different severity levels. However, these systems may struggle with distinguishing between similar severity stages. </a:t>
            </a:r>
          </a:p>
          <a:p>
            <a:pPr algn="just">
              <a:lnSpc>
                <a:spcPct val="150000"/>
              </a:lnSpc>
              <a:buFont typeface=""/>
              <a:buAutoNum type="arabicPeriod"/>
            </a:pPr>
            <a:r>
              <a:rPr lang="en-US" sz="1400" b="1" dirty="0">
                <a:solidFill>
                  <a:srgbClr val="000000"/>
                </a:solidFill>
                <a:latin typeface="Times New Roman"/>
                <a:cs typeface="Times New Roman"/>
              </a:rPr>
              <a:t>Explainable AI-Based DR Classification :</a:t>
            </a:r>
            <a:r>
              <a:rPr lang="en-US" sz="1400" dirty="0">
                <a:solidFill>
                  <a:srgbClr val="000000"/>
                </a:solidFill>
                <a:latin typeface="Times New Roman"/>
                <a:cs typeface="Times New Roman"/>
              </a:rPr>
              <a:t> An approach that combines deep learning with techniques such as Grad-CAM and Grad-CAM++ to highlight regions responsible for predictions. However, the explanations may be coarse and may not always provide clinically meaningful reasoning. </a:t>
            </a:r>
          </a:p>
        </p:txBody>
      </p:sp>
    </p:spTree>
    <p:extLst>
      <p:ext uri="{BB962C8B-B14F-4D97-AF65-F5344CB8AC3E}">
        <p14:creationId xmlns:p14="http://schemas.microsoft.com/office/powerpoint/2010/main" val="1554877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2B812-527B-6C7C-17C5-816E105993D3}"/>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40DB713A-ACE8-63FF-875C-77C84A007810}"/>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37BCC677-CC2D-FED0-110C-38D328B03CF4}"/>
              </a:ext>
            </a:extLst>
          </p:cNvPr>
          <p:cNvSpPr/>
          <p:nvPr/>
        </p:nvSpPr>
        <p:spPr>
          <a:xfrm>
            <a:off x="1668701" y="336704"/>
            <a:ext cx="6395816"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a:solidFill>
                  <a:srgbClr val="FF0000"/>
                </a:solidFill>
                <a:latin typeface="Times New Roman" pitchFamily="18" charset="0"/>
                <a:cs typeface="Times New Roman" pitchFamily="18" charset="0"/>
              </a:rPr>
              <a:t> Disadvantages of E</a:t>
            </a:r>
            <a:r>
              <a:rPr lang="en-IN" sz="3200" spc="-1" err="1">
                <a:solidFill>
                  <a:srgbClr val="FF0000"/>
                </a:solidFill>
                <a:latin typeface="Times New Roman" pitchFamily="18" charset="0"/>
                <a:cs typeface="Times New Roman" pitchFamily="18" charset="0"/>
              </a:rPr>
              <a:t>xisting</a:t>
            </a:r>
            <a:r>
              <a:rPr lang="en-IN" sz="3200" spc="-1">
                <a:solidFill>
                  <a:srgbClr val="FF0000"/>
                </a:solidFill>
                <a:latin typeface="Times New Roman" pitchFamily="18" charset="0"/>
                <a:cs typeface="Times New Roman" pitchFamily="18" charset="0"/>
              </a:rPr>
              <a:t> Systems</a:t>
            </a:r>
          </a:p>
        </p:txBody>
      </p:sp>
      <p:sp>
        <p:nvSpPr>
          <p:cNvPr id="113" name="Google Shape;105;g353458fbea5_0_ 2">
            <a:extLst>
              <a:ext uri="{FF2B5EF4-FFF2-40B4-BE49-F238E27FC236}">
                <a16:creationId xmlns:a16="http://schemas.microsoft.com/office/drawing/2014/main" id="{8753E9B8-44E8-D2E4-2116-532C98F7A37E}"/>
              </a:ext>
            </a:extLst>
          </p:cNvPr>
          <p:cNvSpPr/>
          <p:nvPr/>
        </p:nvSpPr>
        <p:spPr>
          <a:xfrm>
            <a:off x="657360" y="4650693"/>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BCBCB6DE-6F46-EE34-6CCD-7D4618D5D0C1}"/>
              </a:ext>
            </a:extLst>
          </p:cNvPr>
          <p:cNvSpPr/>
          <p:nvPr/>
        </p:nvSpPr>
        <p:spPr>
          <a:xfrm>
            <a:off x="7785000" y="4589640"/>
            <a:ext cx="108141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10</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19123211-6EAA-92F8-A761-7C727828F58D}"/>
              </a:ext>
            </a:extLst>
          </p:cNvPr>
          <p:cNvPicPr>
            <a:picLocks noChangeAspect="1"/>
          </p:cNvPicPr>
          <p:nvPr/>
        </p:nvPicPr>
        <p:blipFill>
          <a:blip r:embed="rId2"/>
          <a:stretch>
            <a:fillRect/>
          </a:stretch>
        </p:blipFill>
        <p:spPr>
          <a:xfrm>
            <a:off x="220439" y="166181"/>
            <a:ext cx="1355522" cy="337186"/>
          </a:xfrm>
          <a:prstGeom prst="rect">
            <a:avLst/>
          </a:prstGeom>
        </p:spPr>
      </p:pic>
      <p:sp>
        <p:nvSpPr>
          <p:cNvPr id="2" name="TextBox 1">
            <a:extLst>
              <a:ext uri="{FF2B5EF4-FFF2-40B4-BE49-F238E27FC236}">
                <a16:creationId xmlns:a16="http://schemas.microsoft.com/office/drawing/2014/main" id="{15673CD1-C4A8-9A86-3284-4705C31DA5D6}"/>
              </a:ext>
            </a:extLst>
          </p:cNvPr>
          <p:cNvSpPr txBox="1"/>
          <p:nvPr/>
        </p:nvSpPr>
        <p:spPr>
          <a:xfrm>
            <a:off x="514133" y="1102748"/>
            <a:ext cx="7967773" cy="31712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sz="1350" b="1" dirty="0">
                <a:solidFill>
                  <a:srgbClr val="000000"/>
                </a:solidFill>
                <a:latin typeface="Times New Roman"/>
                <a:cs typeface="Times New Roman"/>
              </a:rPr>
              <a:t>Limited Interpretability of Deep Learning Models:</a:t>
            </a:r>
            <a:r>
              <a:rPr lang="en-US" sz="1350" dirty="0">
                <a:solidFill>
                  <a:srgbClr val="000000"/>
                </a:solidFill>
                <a:latin typeface="Times New Roman"/>
                <a:cs typeface="Times New Roman"/>
              </a:rPr>
              <a:t> Most existing diabetic retinopathy grading systems use complex deep learning models that provide accurate predictions but do not clearly explain the reasons behind their decisions. This makes it difficult for ophthalmologists to understand and trust the model's predictions.</a:t>
            </a:r>
          </a:p>
          <a:p>
            <a:pPr marL="285750" indent="-285750" algn="just">
              <a:lnSpc>
                <a:spcPct val="150000"/>
              </a:lnSpc>
              <a:buFont typeface="Arial"/>
              <a:buChar char="•"/>
            </a:pPr>
            <a:r>
              <a:rPr lang="en-US" sz="1350" b="1" dirty="0">
                <a:solidFill>
                  <a:srgbClr val="000000"/>
                </a:solidFill>
                <a:latin typeface="Times New Roman"/>
                <a:cs typeface="Times New Roman"/>
              </a:rPr>
              <a:t>Difficulty in Distinguishing DR Severity Levels:</a:t>
            </a:r>
            <a:r>
              <a:rPr lang="en-US" sz="1350" dirty="0">
                <a:solidFill>
                  <a:srgbClr val="000000"/>
                </a:solidFill>
                <a:latin typeface="Times New Roman"/>
                <a:cs typeface="Times New Roman"/>
              </a:rPr>
              <a:t> Existing systems may struggle to differentiate between adjacent stages such as Mild, Moderate, and Severe diabetic retinopathy because the visual differences between these stages can be subtle. This can lead to incorrect severity grading.</a:t>
            </a:r>
          </a:p>
          <a:p>
            <a:pPr marL="285750" indent="-285750" algn="just">
              <a:lnSpc>
                <a:spcPct val="150000"/>
              </a:lnSpc>
              <a:buFont typeface="Arial"/>
              <a:buChar char="•"/>
            </a:pPr>
            <a:r>
              <a:rPr lang="en-US" sz="1350" b="1" dirty="0">
                <a:solidFill>
                  <a:srgbClr val="000000"/>
                </a:solidFill>
                <a:latin typeface="Times New Roman"/>
                <a:cs typeface="Times New Roman"/>
              </a:rPr>
              <a:t>Dependence on Dataset Quality and Class Imbalance:</a:t>
            </a:r>
            <a:r>
              <a:rPr lang="en-US" sz="1350" dirty="0">
                <a:solidFill>
                  <a:srgbClr val="000000"/>
                </a:solidFill>
                <a:latin typeface="Times New Roman"/>
                <a:cs typeface="Times New Roman"/>
              </a:rPr>
              <a:t> Existing models are highly dependent on the quality and diversity of retinal fundus images used for training. Imbalanced datasets, poor-quality images, and variations in lighting or imaging devices can reduce the reliability and generalization of the predictions.</a:t>
            </a:r>
          </a:p>
        </p:txBody>
      </p:sp>
    </p:spTree>
    <p:extLst>
      <p:ext uri="{BB962C8B-B14F-4D97-AF65-F5344CB8AC3E}">
        <p14:creationId xmlns:p14="http://schemas.microsoft.com/office/powerpoint/2010/main" val="432155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5C4CE-D879-77DD-7E88-3710BC7C7F1F}"/>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391A3847-C8F2-7DCB-502D-E9AD4EC7CCC0}"/>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F6309D91-141F-03C0-A6C4-0F6188B7BC58}"/>
              </a:ext>
            </a:extLst>
          </p:cNvPr>
          <p:cNvSpPr/>
          <p:nvPr/>
        </p:nvSpPr>
        <p:spPr>
          <a:xfrm>
            <a:off x="1575666" y="336704"/>
            <a:ext cx="6395816"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a:solidFill>
                  <a:srgbClr val="FF0000"/>
                </a:solidFill>
                <a:latin typeface="Times New Roman" pitchFamily="18" charset="0"/>
                <a:cs typeface="Times New Roman" pitchFamily="18" charset="0"/>
              </a:rPr>
              <a:t> Proposed Methodology</a:t>
            </a:r>
            <a:endParaRPr lang="en-IN" sz="3200" spc="-1">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66633A23-64BF-5353-56E5-705AA14E2294}"/>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785042F6-7BF7-0428-5521-1A35C141979E}"/>
              </a:ext>
            </a:extLst>
          </p:cNvPr>
          <p:cNvSpPr/>
          <p:nvPr/>
        </p:nvSpPr>
        <p:spPr>
          <a:xfrm>
            <a:off x="7554686" y="4589640"/>
            <a:ext cx="118323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11</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0B69214C-442A-A786-E262-BF2F284C672D}"/>
              </a:ext>
            </a:extLst>
          </p:cNvPr>
          <p:cNvPicPr>
            <a:picLocks noChangeAspect="1"/>
          </p:cNvPicPr>
          <p:nvPr/>
        </p:nvPicPr>
        <p:blipFill>
          <a:blip r:embed="rId2"/>
          <a:stretch>
            <a:fillRect/>
          </a:stretch>
        </p:blipFill>
        <p:spPr>
          <a:xfrm>
            <a:off x="220439" y="166181"/>
            <a:ext cx="1355522" cy="337186"/>
          </a:xfrm>
          <a:prstGeom prst="rect">
            <a:avLst/>
          </a:prstGeom>
        </p:spPr>
      </p:pic>
      <p:sp>
        <p:nvSpPr>
          <p:cNvPr id="2" name="TextBox 1">
            <a:extLst>
              <a:ext uri="{FF2B5EF4-FFF2-40B4-BE49-F238E27FC236}">
                <a16:creationId xmlns:a16="http://schemas.microsoft.com/office/drawing/2014/main" id="{2509C8CE-A1E6-F9EE-2C1C-A5D94A5F9BF0}"/>
              </a:ext>
            </a:extLst>
          </p:cNvPr>
          <p:cNvSpPr txBox="1"/>
          <p:nvPr/>
        </p:nvSpPr>
        <p:spPr>
          <a:xfrm>
            <a:off x="585868" y="1215360"/>
            <a:ext cx="7972264" cy="29621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GB" sz="1400" dirty="0">
                <a:solidFill>
                  <a:srgbClr val="000000"/>
                </a:solidFill>
                <a:latin typeface="Times New Roman"/>
                <a:ea typeface="+mn-lt"/>
                <a:cs typeface="Times New Roman"/>
              </a:rPr>
              <a:t>The proposed system uses an explainable deep learning framework to automatically grade diabetic retinopathy severity from retinal fundus images. The input image is first </a:t>
            </a:r>
            <a:r>
              <a:rPr lang="en-GB" sz="1400" dirty="0" err="1">
                <a:solidFill>
                  <a:srgbClr val="000000"/>
                </a:solidFill>
                <a:latin typeface="Times New Roman"/>
                <a:ea typeface="+mn-lt"/>
                <a:cs typeface="Times New Roman"/>
              </a:rPr>
              <a:t>preprocessed</a:t>
            </a:r>
            <a:r>
              <a:rPr lang="en-GB" sz="1400" dirty="0">
                <a:solidFill>
                  <a:srgbClr val="000000"/>
                </a:solidFill>
                <a:latin typeface="Times New Roman"/>
                <a:ea typeface="+mn-lt"/>
                <a:cs typeface="Times New Roman"/>
              </a:rPr>
              <a:t> using resizing, noise removal, contrast enhancement, and normalization to improve image quality. The processed image is then provided to a transfer-learning-based deep learning model such as </a:t>
            </a:r>
            <a:r>
              <a:rPr lang="en-GB" sz="1400" dirty="0" err="1">
                <a:solidFill>
                  <a:srgbClr val="000000"/>
                </a:solidFill>
                <a:latin typeface="Times New Roman"/>
                <a:ea typeface="+mn-lt"/>
                <a:cs typeface="Times New Roman"/>
              </a:rPr>
              <a:t>EfficientNet</a:t>
            </a:r>
            <a:r>
              <a:rPr lang="en-GB" sz="1400" dirty="0">
                <a:solidFill>
                  <a:srgbClr val="000000"/>
                </a:solidFill>
                <a:latin typeface="Times New Roman"/>
                <a:ea typeface="+mn-lt"/>
                <a:cs typeface="Times New Roman"/>
              </a:rPr>
              <a:t> or </a:t>
            </a:r>
            <a:r>
              <a:rPr lang="en-GB" sz="1400" dirty="0" err="1">
                <a:solidFill>
                  <a:srgbClr val="000000"/>
                </a:solidFill>
                <a:latin typeface="Times New Roman"/>
                <a:ea typeface="+mn-lt"/>
                <a:cs typeface="Times New Roman"/>
              </a:rPr>
              <a:t>ResNet</a:t>
            </a:r>
            <a:r>
              <a:rPr lang="en-GB" sz="1400" dirty="0">
                <a:solidFill>
                  <a:srgbClr val="000000"/>
                </a:solidFill>
                <a:latin typeface="Times New Roman"/>
                <a:ea typeface="+mn-lt"/>
                <a:cs typeface="Times New Roman"/>
              </a:rPr>
              <a:t>, which extracts important retinal features and classifies the image into five severity levels: No DR, Mild, Moderate, Severe, and Proliferative DR. To make the prediction interpretable, Explainable AI techniques such as Grad-CAM or Grad-CAM++ are applied to generate heatmaps highlighting the retinal regions that influenced the model's decision. The system finally combines the predicted severity, confidence score, and visual explanation into an understandable report, helping medical professionals interpret and verify the automated prediction.</a:t>
            </a:r>
            <a:endParaRPr lang="en-US" sz="1400" dirty="0">
              <a:solidFill>
                <a:srgbClr val="000000"/>
              </a:solidFill>
              <a:latin typeface="Times New Roman"/>
              <a:cs typeface="Times New Roman"/>
            </a:endParaRPr>
          </a:p>
        </p:txBody>
      </p:sp>
    </p:spTree>
    <p:extLst>
      <p:ext uri="{BB962C8B-B14F-4D97-AF65-F5344CB8AC3E}">
        <p14:creationId xmlns:p14="http://schemas.microsoft.com/office/powerpoint/2010/main" val="465573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9F7F2-8204-FD74-EEDA-0FC934CC5AD9}"/>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7FA6FEDD-3340-6554-3FB3-E7AA8F0154EF}"/>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82CF628F-C80B-F070-2834-D764CA1E9F39}"/>
              </a:ext>
            </a:extLst>
          </p:cNvPr>
          <p:cNvSpPr/>
          <p:nvPr/>
        </p:nvSpPr>
        <p:spPr>
          <a:xfrm>
            <a:off x="1575666" y="336704"/>
            <a:ext cx="6395816"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dirty="0">
                <a:solidFill>
                  <a:srgbClr val="FF0000"/>
                </a:solidFill>
                <a:latin typeface="Times New Roman" pitchFamily="18" charset="0"/>
                <a:cs typeface="Times New Roman" pitchFamily="18" charset="0"/>
              </a:rPr>
              <a:t> Proposed Architecture</a:t>
            </a:r>
            <a:endParaRPr lang="en-IN" sz="3200" spc="-1" dirty="0">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0C2D51CD-5E45-D0C2-BC56-F3C76057D41D}"/>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05A47B67-EB0E-1904-7A18-0BBCBD223F4A}"/>
              </a:ext>
            </a:extLst>
          </p:cNvPr>
          <p:cNvSpPr/>
          <p:nvPr/>
        </p:nvSpPr>
        <p:spPr>
          <a:xfrm>
            <a:off x="7554686" y="4589640"/>
            <a:ext cx="118323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12</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3E2E3541-4338-5A1C-737A-595FAE4D6F18}"/>
              </a:ext>
            </a:extLst>
          </p:cNvPr>
          <p:cNvPicPr>
            <a:picLocks noChangeAspect="1"/>
          </p:cNvPicPr>
          <p:nvPr/>
        </p:nvPicPr>
        <p:blipFill>
          <a:blip r:embed="rId2"/>
          <a:stretch>
            <a:fillRect/>
          </a:stretch>
        </p:blipFill>
        <p:spPr>
          <a:xfrm>
            <a:off x="220439" y="166181"/>
            <a:ext cx="1355522" cy="337186"/>
          </a:xfrm>
          <a:prstGeom prst="rect">
            <a:avLst/>
          </a:prstGeom>
        </p:spPr>
      </p:pic>
      <p:pic>
        <p:nvPicPr>
          <p:cNvPr id="5" name="Picture 4">
            <a:extLst>
              <a:ext uri="{FF2B5EF4-FFF2-40B4-BE49-F238E27FC236}">
                <a16:creationId xmlns:a16="http://schemas.microsoft.com/office/drawing/2014/main" id="{CD9FE476-61B7-E71E-4B1E-11AFE98E9F42}"/>
              </a:ext>
            </a:extLst>
          </p:cNvPr>
          <p:cNvPicPr>
            <a:picLocks noChangeAspect="1"/>
          </p:cNvPicPr>
          <p:nvPr/>
        </p:nvPicPr>
        <p:blipFill>
          <a:blip r:embed="rId3">
            <a:extLst>
              <a:ext uri="{28A0092B-C50C-407E-A947-70E740481C1C}">
                <a14:useLocalDpi xmlns:a14="http://schemas.microsoft.com/office/drawing/2010/main" val="0"/>
              </a:ext>
            </a:extLst>
          </a:blip>
          <a:srcRect t="12605" b="9447"/>
          <a:stretch>
            <a:fillRect/>
          </a:stretch>
        </p:blipFill>
        <p:spPr>
          <a:xfrm>
            <a:off x="1374092" y="1012245"/>
            <a:ext cx="6395816" cy="3437165"/>
          </a:xfrm>
          <a:prstGeom prst="rect">
            <a:avLst/>
          </a:prstGeom>
        </p:spPr>
      </p:pic>
      <p:sp>
        <p:nvSpPr>
          <p:cNvPr id="9" name="TextBox 8">
            <a:extLst>
              <a:ext uri="{FF2B5EF4-FFF2-40B4-BE49-F238E27FC236}">
                <a16:creationId xmlns:a16="http://schemas.microsoft.com/office/drawing/2014/main" id="{D886C0E5-EA57-3FC4-6D87-BB64360490D8}"/>
              </a:ext>
            </a:extLst>
          </p:cNvPr>
          <p:cNvSpPr txBox="1"/>
          <p:nvPr/>
        </p:nvSpPr>
        <p:spPr>
          <a:xfrm>
            <a:off x="913905" y="4303216"/>
            <a:ext cx="7719338" cy="292388"/>
          </a:xfrm>
          <a:prstGeom prst="rect">
            <a:avLst/>
          </a:prstGeom>
          <a:noFill/>
        </p:spPr>
        <p:txBody>
          <a:bodyPr wrap="square">
            <a:spAutoFit/>
          </a:bodyPr>
          <a:lstStyle/>
          <a:p>
            <a:pPr>
              <a:buNone/>
            </a:pPr>
            <a:r>
              <a:rPr lang="en-IN" sz="1300" dirty="0">
                <a:solidFill>
                  <a:schemeClr val="bg1">
                    <a:lumMod val="10000"/>
                  </a:schemeClr>
                </a:solidFill>
                <a:latin typeface="Times New Roman" panose="02020603050405020304" pitchFamily="18" charset="0"/>
                <a:cs typeface="Times New Roman" panose="02020603050405020304" pitchFamily="18" charset="0"/>
              </a:rPr>
              <a:t>Proposed Architecture of An Explainable Deep Learning Framework for Diabetic Retinopathy Severity Grading </a:t>
            </a:r>
          </a:p>
        </p:txBody>
      </p:sp>
    </p:spTree>
    <p:extLst>
      <p:ext uri="{BB962C8B-B14F-4D97-AF65-F5344CB8AC3E}">
        <p14:creationId xmlns:p14="http://schemas.microsoft.com/office/powerpoint/2010/main" val="129802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182F-8C7E-7E89-9647-755C633D1EEB}"/>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6D821293-F112-D295-6600-BFB8EA793B78}"/>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B1D1F1DB-870F-83C4-7FCB-5352F19B2793}"/>
              </a:ext>
            </a:extLst>
          </p:cNvPr>
          <p:cNvSpPr/>
          <p:nvPr/>
        </p:nvSpPr>
        <p:spPr>
          <a:xfrm>
            <a:off x="1716272" y="502838"/>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a:solidFill>
                  <a:srgbClr val="FF0000"/>
                </a:solidFill>
                <a:latin typeface="Times New Roman" pitchFamily="18" charset="0"/>
                <a:cs typeface="Times New Roman" pitchFamily="18" charset="0"/>
              </a:rPr>
              <a:t> Advantages of Proposed Methodology</a:t>
            </a:r>
            <a:endParaRPr lang="en-IN" sz="3200" spc="-1">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359F0D38-6CE5-237D-27CE-0099BC41EF5B}"/>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07661F31-4FAB-ECAD-41C9-14CBC8269F01}"/>
              </a:ext>
            </a:extLst>
          </p:cNvPr>
          <p:cNvSpPr/>
          <p:nvPr/>
        </p:nvSpPr>
        <p:spPr>
          <a:xfrm>
            <a:off x="7479720" y="4589640"/>
            <a:ext cx="12582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13</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607E5950-AAF1-569D-5482-FAEA4EE6150D}"/>
              </a:ext>
            </a:extLst>
          </p:cNvPr>
          <p:cNvPicPr>
            <a:picLocks noChangeAspect="1"/>
          </p:cNvPicPr>
          <p:nvPr/>
        </p:nvPicPr>
        <p:blipFill>
          <a:blip r:embed="rId2"/>
          <a:stretch>
            <a:fillRect/>
          </a:stretch>
        </p:blipFill>
        <p:spPr>
          <a:xfrm>
            <a:off x="220439" y="166181"/>
            <a:ext cx="1355522" cy="337186"/>
          </a:xfrm>
          <a:prstGeom prst="rect">
            <a:avLst/>
          </a:prstGeom>
        </p:spPr>
      </p:pic>
      <p:sp>
        <p:nvSpPr>
          <p:cNvPr id="2" name="TextBox 1">
            <a:extLst>
              <a:ext uri="{FF2B5EF4-FFF2-40B4-BE49-F238E27FC236}">
                <a16:creationId xmlns:a16="http://schemas.microsoft.com/office/drawing/2014/main" id="{5EC43561-2A68-DDE5-ED61-390AF41CC233}"/>
              </a:ext>
            </a:extLst>
          </p:cNvPr>
          <p:cNvSpPr txBox="1"/>
          <p:nvPr/>
        </p:nvSpPr>
        <p:spPr>
          <a:xfrm>
            <a:off x="657890" y="1282553"/>
            <a:ext cx="7828220" cy="26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sz="1400" b="1">
                <a:solidFill>
                  <a:srgbClr val="000000"/>
                </a:solidFill>
                <a:latin typeface="Times New Roman"/>
                <a:cs typeface="Times New Roman"/>
              </a:rPr>
              <a:t>Provides accurate severity grading</a:t>
            </a:r>
            <a:r>
              <a:rPr lang="en-US" sz="1400">
                <a:solidFill>
                  <a:srgbClr val="000000"/>
                </a:solidFill>
                <a:latin typeface="Times New Roman"/>
                <a:cs typeface="Times New Roman"/>
              </a:rPr>
              <a:t> by classifying retinal fundus images into five stages: No DR, Mild, Moderate, Severe, and Proliferative DR.</a:t>
            </a:r>
            <a:endParaRPr lang="en-US">
              <a:solidFill>
                <a:srgbClr val="000000"/>
              </a:solidFill>
              <a:cs typeface="Arial"/>
            </a:endParaRPr>
          </a:p>
          <a:p>
            <a:pPr marL="285750" indent="-285750" algn="just">
              <a:lnSpc>
                <a:spcPct val="150000"/>
              </a:lnSpc>
              <a:buFont typeface="Arial"/>
              <a:buChar char="•"/>
            </a:pPr>
            <a:r>
              <a:rPr lang="en-US" sz="1400" b="1">
                <a:solidFill>
                  <a:srgbClr val="000000"/>
                </a:solidFill>
                <a:latin typeface="Times New Roman"/>
                <a:cs typeface="Times New Roman"/>
              </a:rPr>
              <a:t>Provides explainable predictions</a:t>
            </a:r>
            <a:r>
              <a:rPr lang="en-US" sz="1400">
                <a:solidFill>
                  <a:srgbClr val="000000"/>
                </a:solidFill>
                <a:latin typeface="Times New Roman"/>
                <a:cs typeface="Times New Roman"/>
              </a:rPr>
              <a:t> using Grad-CAM or Grad-CAM++ to highlight the retinal regions that contribute to the model's decision, improving transparency for medical professionals.</a:t>
            </a:r>
          </a:p>
          <a:p>
            <a:pPr marL="285750" indent="-285750" algn="just">
              <a:lnSpc>
                <a:spcPct val="150000"/>
              </a:lnSpc>
              <a:buFont typeface="Arial"/>
              <a:buChar char="•"/>
            </a:pPr>
            <a:r>
              <a:rPr lang="en-US" sz="1400" b="1">
                <a:solidFill>
                  <a:srgbClr val="000000"/>
                </a:solidFill>
                <a:latin typeface="Times New Roman"/>
                <a:cs typeface="Times New Roman"/>
              </a:rPr>
              <a:t>Improves reliability of diagnosis</a:t>
            </a:r>
            <a:r>
              <a:rPr lang="en-US" sz="1400">
                <a:solidFill>
                  <a:srgbClr val="000000"/>
                </a:solidFill>
                <a:latin typeface="Times New Roman"/>
                <a:cs typeface="Times New Roman"/>
              </a:rPr>
              <a:t> by combining deep learning predictions with confidence scores, helping identify uncertain or difficult cases.</a:t>
            </a:r>
          </a:p>
          <a:p>
            <a:pPr marL="285750" indent="-285750" algn="just">
              <a:lnSpc>
                <a:spcPct val="150000"/>
              </a:lnSpc>
              <a:buFont typeface="Arial"/>
              <a:buChar char="•"/>
            </a:pPr>
            <a:r>
              <a:rPr lang="en-US" sz="1400" b="1">
                <a:solidFill>
                  <a:srgbClr val="000000"/>
                </a:solidFill>
                <a:latin typeface="Times New Roman"/>
                <a:cs typeface="Times New Roman"/>
              </a:rPr>
              <a:t>Reduces manual screening effort</a:t>
            </a:r>
            <a:r>
              <a:rPr lang="en-US" sz="1400">
                <a:solidFill>
                  <a:srgbClr val="000000"/>
                </a:solidFill>
                <a:latin typeface="Times New Roman"/>
                <a:cs typeface="Times New Roman"/>
              </a:rPr>
              <a:t> by automatically analyzing fundus images and generating a structured severity assessment, supporting faster and more consistent diabetic retinopathy screening.</a:t>
            </a:r>
          </a:p>
        </p:txBody>
      </p:sp>
    </p:spTree>
    <p:extLst>
      <p:ext uri="{BB962C8B-B14F-4D97-AF65-F5344CB8AC3E}">
        <p14:creationId xmlns:p14="http://schemas.microsoft.com/office/powerpoint/2010/main" val="162873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AB6F8-58E7-568A-13B7-3B3D79310D8F}"/>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438C2590-E8F1-7C05-5C56-26A4B009D8CF}"/>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05F82B14-52B4-B140-6CE4-D89C776BCDB4}"/>
              </a:ext>
            </a:extLst>
          </p:cNvPr>
          <p:cNvSpPr/>
          <p:nvPr/>
        </p:nvSpPr>
        <p:spPr>
          <a:xfrm>
            <a:off x="1297615" y="336704"/>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dirty="0">
                <a:solidFill>
                  <a:srgbClr val="FF0000"/>
                </a:solidFill>
                <a:latin typeface="Times New Roman" pitchFamily="18" charset="0"/>
                <a:cs typeface="Times New Roman" pitchFamily="18" charset="0"/>
              </a:rPr>
              <a:t> Datasets</a:t>
            </a:r>
            <a:endParaRPr lang="en-IN" sz="3200" spc="-1" dirty="0">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B643ECBA-1A4D-A7A5-C8AE-8DBE030337CD}"/>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8F64D6FB-7209-3972-0DA5-1E2CE4A11C11}"/>
              </a:ext>
            </a:extLst>
          </p:cNvPr>
          <p:cNvSpPr/>
          <p:nvPr/>
        </p:nvSpPr>
        <p:spPr>
          <a:xfrm>
            <a:off x="7634514" y="4589640"/>
            <a:ext cx="1103406"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14</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E87E6C41-B87C-20DF-32CB-E224EBC6A0EC}"/>
              </a:ext>
            </a:extLst>
          </p:cNvPr>
          <p:cNvPicPr>
            <a:picLocks noChangeAspect="1"/>
          </p:cNvPicPr>
          <p:nvPr/>
        </p:nvPicPr>
        <p:blipFill>
          <a:blip r:embed="rId2"/>
          <a:stretch>
            <a:fillRect/>
          </a:stretch>
        </p:blipFill>
        <p:spPr>
          <a:xfrm>
            <a:off x="220439" y="166181"/>
            <a:ext cx="1355522" cy="337186"/>
          </a:xfrm>
          <a:prstGeom prst="rect">
            <a:avLst/>
          </a:prstGeom>
        </p:spPr>
      </p:pic>
      <p:sp>
        <p:nvSpPr>
          <p:cNvPr id="2" name="TextBox 1">
            <a:extLst>
              <a:ext uri="{FF2B5EF4-FFF2-40B4-BE49-F238E27FC236}">
                <a16:creationId xmlns:a16="http://schemas.microsoft.com/office/drawing/2014/main" id="{1B023DC9-4DFD-66D5-6A25-3C6528849C93}"/>
              </a:ext>
            </a:extLst>
          </p:cNvPr>
          <p:cNvSpPr txBox="1"/>
          <p:nvPr/>
        </p:nvSpPr>
        <p:spPr>
          <a:xfrm>
            <a:off x="657890" y="770860"/>
            <a:ext cx="8074097" cy="1669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AutoNum type="arabicPeriod"/>
            </a:pPr>
            <a:r>
              <a:rPr lang="en-US" sz="1400" b="1" dirty="0" err="1">
                <a:solidFill>
                  <a:srgbClr val="000000"/>
                </a:solidFill>
                <a:latin typeface="Times New Roman"/>
                <a:cs typeface="Times New Roman"/>
              </a:rPr>
              <a:t>EyePACS</a:t>
            </a:r>
            <a:r>
              <a:rPr lang="en-US" sz="1400" b="1" dirty="0">
                <a:solidFill>
                  <a:srgbClr val="000000"/>
                </a:solidFill>
                <a:latin typeface="Times New Roman"/>
                <a:cs typeface="Times New Roman"/>
              </a:rPr>
              <a:t> Dataset:</a:t>
            </a:r>
            <a:r>
              <a:rPr lang="en-US" sz="1400" dirty="0">
                <a:solidFill>
                  <a:srgbClr val="000000"/>
                </a:solidFill>
                <a:latin typeface="Times New Roman"/>
                <a:cs typeface="Times New Roman"/>
              </a:rPr>
              <a:t> Large collection of retinal fundus images with diabetic retinopathy severity labels. </a:t>
            </a:r>
            <a:endParaRPr lang="en-US" dirty="0">
              <a:solidFill>
                <a:srgbClr val="000000"/>
              </a:solidFill>
              <a:cs typeface="Arial"/>
            </a:endParaRPr>
          </a:p>
          <a:p>
            <a:pPr marL="342900" indent="-342900">
              <a:lnSpc>
                <a:spcPct val="150000"/>
              </a:lnSpc>
              <a:buAutoNum type="arabicPeriod"/>
            </a:pPr>
            <a:r>
              <a:rPr lang="en-US" sz="1400" b="1" dirty="0">
                <a:solidFill>
                  <a:srgbClr val="000000"/>
                </a:solidFill>
                <a:latin typeface="Times New Roman"/>
                <a:cs typeface="Times New Roman"/>
              </a:rPr>
              <a:t>APTOS 2019 Dataset:</a:t>
            </a:r>
            <a:r>
              <a:rPr lang="en-US" sz="1400" dirty="0">
                <a:solidFill>
                  <a:srgbClr val="000000"/>
                </a:solidFill>
                <a:latin typeface="Times New Roman"/>
                <a:cs typeface="Times New Roman"/>
              </a:rPr>
              <a:t> Retinal images categorized into five diabetic retinopathy severity levels. </a:t>
            </a:r>
          </a:p>
          <a:p>
            <a:pPr marL="342900" indent="-342900">
              <a:lnSpc>
                <a:spcPct val="150000"/>
              </a:lnSpc>
              <a:buAutoNum type="arabicPeriod"/>
            </a:pPr>
            <a:r>
              <a:rPr lang="en-US" sz="1400" b="1" dirty="0" err="1">
                <a:solidFill>
                  <a:srgbClr val="000000"/>
                </a:solidFill>
                <a:latin typeface="Times New Roman"/>
                <a:cs typeface="Times New Roman"/>
              </a:rPr>
              <a:t>Messidor</a:t>
            </a:r>
            <a:r>
              <a:rPr lang="en-US" sz="1400" b="1" dirty="0">
                <a:solidFill>
                  <a:srgbClr val="000000"/>
                </a:solidFill>
                <a:latin typeface="Times New Roman"/>
                <a:cs typeface="Times New Roman"/>
              </a:rPr>
              <a:t> Dataset:</a:t>
            </a:r>
            <a:r>
              <a:rPr lang="en-US" sz="1400" dirty="0">
                <a:solidFill>
                  <a:srgbClr val="000000"/>
                </a:solidFill>
                <a:latin typeface="Times New Roman"/>
                <a:cs typeface="Times New Roman"/>
              </a:rPr>
              <a:t> Annotated retinal fundus images used for diabetic retinopathy detection and grading. </a:t>
            </a:r>
          </a:p>
          <a:p>
            <a:pPr marL="342900" indent="-342900">
              <a:lnSpc>
                <a:spcPct val="150000"/>
              </a:lnSpc>
              <a:buAutoNum type="arabicPeriod"/>
            </a:pPr>
            <a:r>
              <a:rPr lang="en-US" sz="1400" b="1" dirty="0" err="1">
                <a:solidFill>
                  <a:srgbClr val="000000"/>
                </a:solidFill>
                <a:latin typeface="Times New Roman"/>
                <a:cs typeface="Times New Roman"/>
              </a:rPr>
              <a:t>IDRiD</a:t>
            </a:r>
            <a:r>
              <a:rPr lang="en-US" sz="1400" b="1" dirty="0">
                <a:solidFill>
                  <a:srgbClr val="000000"/>
                </a:solidFill>
                <a:latin typeface="Times New Roman"/>
                <a:cs typeface="Times New Roman"/>
              </a:rPr>
              <a:t> Dataset:</a:t>
            </a:r>
            <a:r>
              <a:rPr lang="en-US" sz="1400" dirty="0">
                <a:solidFill>
                  <a:srgbClr val="000000"/>
                </a:solidFill>
                <a:latin typeface="Times New Roman"/>
                <a:cs typeface="Times New Roman"/>
              </a:rPr>
              <a:t> Retinal images containing diabetic retinopathy grades and annotations for retinal lesions.</a:t>
            </a:r>
          </a:p>
        </p:txBody>
      </p:sp>
      <p:sp>
        <p:nvSpPr>
          <p:cNvPr id="3" name="TextBox 2">
            <a:extLst>
              <a:ext uri="{FF2B5EF4-FFF2-40B4-BE49-F238E27FC236}">
                <a16:creationId xmlns:a16="http://schemas.microsoft.com/office/drawing/2014/main" id="{CFB6A8DA-CF1D-6378-EC9F-9D32CD805AC3}"/>
              </a:ext>
            </a:extLst>
          </p:cNvPr>
          <p:cNvSpPr txBox="1"/>
          <p:nvPr/>
        </p:nvSpPr>
        <p:spPr>
          <a:xfrm>
            <a:off x="2286000" y="2372389"/>
            <a:ext cx="4572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dirty="0">
                <a:solidFill>
                  <a:srgbClr val="FF0000"/>
                </a:solidFill>
                <a:latin typeface="Times New Roman"/>
                <a:cs typeface="Times New Roman"/>
              </a:rPr>
              <a:t>Hardware Requirement</a:t>
            </a:r>
          </a:p>
        </p:txBody>
      </p:sp>
      <p:sp>
        <p:nvSpPr>
          <p:cNvPr id="5" name="TextBox 4">
            <a:extLst>
              <a:ext uri="{FF2B5EF4-FFF2-40B4-BE49-F238E27FC236}">
                <a16:creationId xmlns:a16="http://schemas.microsoft.com/office/drawing/2014/main" id="{9599D93B-9724-719F-9D67-95DC7603582D}"/>
              </a:ext>
            </a:extLst>
          </p:cNvPr>
          <p:cNvSpPr txBox="1"/>
          <p:nvPr/>
        </p:nvSpPr>
        <p:spPr>
          <a:xfrm>
            <a:off x="657890" y="2864145"/>
            <a:ext cx="7861447" cy="13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AutoNum type="arabicPeriod"/>
            </a:pPr>
            <a:r>
              <a:rPr lang="en-US" sz="1400" b="1">
                <a:solidFill>
                  <a:srgbClr val="000000"/>
                </a:solidFill>
                <a:latin typeface="Times New Roman"/>
                <a:cs typeface="Times New Roman"/>
              </a:rPr>
              <a:t>Processor:</a:t>
            </a:r>
            <a:r>
              <a:rPr lang="en-US" sz="1400">
                <a:solidFill>
                  <a:srgbClr val="000000"/>
                </a:solidFill>
                <a:latin typeface="Times New Roman"/>
                <a:cs typeface="Times New Roman"/>
              </a:rPr>
              <a:t> Intel Core i5 / AMD Ryzen 5 or above </a:t>
            </a:r>
            <a:endParaRPr lang="en-US">
              <a:solidFill>
                <a:srgbClr val="000000"/>
              </a:solidFill>
              <a:cs typeface="Arial"/>
            </a:endParaRPr>
          </a:p>
          <a:p>
            <a:pPr marL="342900" indent="-342900">
              <a:lnSpc>
                <a:spcPct val="150000"/>
              </a:lnSpc>
              <a:buAutoNum type="arabicPeriod"/>
            </a:pPr>
            <a:r>
              <a:rPr lang="en-US" sz="1400" b="1">
                <a:solidFill>
                  <a:srgbClr val="000000"/>
                </a:solidFill>
                <a:latin typeface="Times New Roman"/>
                <a:cs typeface="Times New Roman"/>
              </a:rPr>
              <a:t>RAM:</a:t>
            </a:r>
            <a:r>
              <a:rPr lang="en-US" sz="1400">
                <a:solidFill>
                  <a:srgbClr val="000000"/>
                </a:solidFill>
                <a:latin typeface="Times New Roman"/>
                <a:cs typeface="Times New Roman"/>
              </a:rPr>
              <a:t> 8 GB minimum, 16 GB recommended </a:t>
            </a:r>
          </a:p>
          <a:p>
            <a:pPr marL="342900" indent="-342900">
              <a:lnSpc>
                <a:spcPct val="150000"/>
              </a:lnSpc>
              <a:buAutoNum type="arabicPeriod"/>
            </a:pPr>
            <a:r>
              <a:rPr lang="en-US" sz="1400" b="1">
                <a:solidFill>
                  <a:srgbClr val="000000"/>
                </a:solidFill>
                <a:latin typeface="Times New Roman"/>
                <a:cs typeface="Times New Roman"/>
              </a:rPr>
              <a:t>GPU:</a:t>
            </a:r>
            <a:r>
              <a:rPr lang="en-US" sz="1400">
                <a:solidFill>
                  <a:srgbClr val="000000"/>
                </a:solidFill>
                <a:latin typeface="Times New Roman"/>
                <a:cs typeface="Times New Roman"/>
              </a:rPr>
              <a:t> NVIDIA GPU with 4 GB+ VRAM recommended for deep learning training </a:t>
            </a:r>
          </a:p>
          <a:p>
            <a:pPr marL="342900" indent="-342900">
              <a:lnSpc>
                <a:spcPct val="150000"/>
              </a:lnSpc>
              <a:buAutoNum type="arabicPeriod"/>
            </a:pPr>
            <a:r>
              <a:rPr lang="en-US" sz="1400" b="1">
                <a:solidFill>
                  <a:srgbClr val="000000"/>
                </a:solidFill>
                <a:latin typeface="Times New Roman"/>
                <a:cs typeface="Times New Roman"/>
              </a:rPr>
              <a:t>Operating System:</a:t>
            </a:r>
            <a:r>
              <a:rPr lang="en-US" sz="1400">
                <a:solidFill>
                  <a:srgbClr val="000000"/>
                </a:solidFill>
                <a:latin typeface="Times New Roman"/>
                <a:cs typeface="Times New Roman"/>
              </a:rPr>
              <a:t> Windows / Linux / macOS</a:t>
            </a:r>
          </a:p>
        </p:txBody>
      </p:sp>
    </p:spTree>
    <p:extLst>
      <p:ext uri="{BB962C8B-B14F-4D97-AF65-F5344CB8AC3E}">
        <p14:creationId xmlns:p14="http://schemas.microsoft.com/office/powerpoint/2010/main" val="212404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C11B-9E64-10F2-3660-868976CA3620}"/>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9C749824-DA63-D173-8257-0A8E5E3E8C9C}"/>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16C17940-25EE-FDFE-6293-8EDE61D6C4B1}"/>
              </a:ext>
            </a:extLst>
          </p:cNvPr>
          <p:cNvSpPr/>
          <p:nvPr/>
        </p:nvSpPr>
        <p:spPr>
          <a:xfrm>
            <a:off x="1676400" y="217088"/>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750" indent="-285750" algn="ctr">
              <a:lnSpc>
                <a:spcPct val="150000"/>
              </a:lnSpc>
              <a:buClr>
                <a:srgbClr val="000000"/>
              </a:buClr>
            </a:pPr>
            <a:r>
              <a:rPr lang="en-US" sz="3200" spc="-1">
                <a:solidFill>
                  <a:srgbClr val="FF0000"/>
                </a:solidFill>
                <a:latin typeface="Times New Roman"/>
                <a:cs typeface="Times New Roman"/>
              </a:rPr>
              <a:t>Software Requirements</a:t>
            </a:r>
            <a:endParaRPr lang="en-IN" sz="3200" spc="-1">
              <a:solidFill>
                <a:srgbClr val="FF0000"/>
              </a:solidFill>
              <a:latin typeface="Times New Roman"/>
              <a:cs typeface="Times New Roman"/>
            </a:endParaRPr>
          </a:p>
        </p:txBody>
      </p:sp>
      <p:sp>
        <p:nvSpPr>
          <p:cNvPr id="113" name="Google Shape;105;g353458fbea5_0_ 2">
            <a:extLst>
              <a:ext uri="{FF2B5EF4-FFF2-40B4-BE49-F238E27FC236}">
                <a16:creationId xmlns:a16="http://schemas.microsoft.com/office/drawing/2014/main" id="{A874E46C-1945-1BC6-83D5-E9186B428DBD}"/>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0159ABA6-0B95-FEDE-0688-356FE7A4787A}"/>
              </a:ext>
            </a:extLst>
          </p:cNvPr>
          <p:cNvSpPr/>
          <p:nvPr/>
        </p:nvSpPr>
        <p:spPr>
          <a:xfrm>
            <a:off x="7479720" y="4589640"/>
            <a:ext cx="12582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15</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AA032D34-D751-26A5-55C8-AEE05B5F80F1}"/>
              </a:ext>
            </a:extLst>
          </p:cNvPr>
          <p:cNvPicPr>
            <a:picLocks noChangeAspect="1"/>
          </p:cNvPicPr>
          <p:nvPr/>
        </p:nvPicPr>
        <p:blipFill>
          <a:blip r:embed="rId2"/>
          <a:stretch>
            <a:fillRect/>
          </a:stretch>
        </p:blipFill>
        <p:spPr>
          <a:xfrm>
            <a:off x="220439" y="166181"/>
            <a:ext cx="1355522" cy="337186"/>
          </a:xfrm>
          <a:prstGeom prst="rect">
            <a:avLst/>
          </a:prstGeom>
        </p:spPr>
      </p:pic>
      <p:graphicFrame>
        <p:nvGraphicFramePr>
          <p:cNvPr id="3" name="Table 2">
            <a:extLst>
              <a:ext uri="{FF2B5EF4-FFF2-40B4-BE49-F238E27FC236}">
                <a16:creationId xmlns:a16="http://schemas.microsoft.com/office/drawing/2014/main" id="{9D9D444B-95A4-CE4F-1F79-765C38840C4D}"/>
              </a:ext>
            </a:extLst>
          </p:cNvPr>
          <p:cNvGraphicFramePr>
            <a:graphicFrameLocks noGrp="1"/>
          </p:cNvGraphicFramePr>
          <p:nvPr>
            <p:extLst>
              <p:ext uri="{D42A27DB-BD31-4B8C-83A1-F6EECF244321}">
                <p14:modId xmlns:p14="http://schemas.microsoft.com/office/powerpoint/2010/main" val="1483948903"/>
              </p:ext>
            </p:extLst>
          </p:nvPr>
        </p:nvGraphicFramePr>
        <p:xfrm>
          <a:off x="2292644" y="711052"/>
          <a:ext cx="4565900" cy="4051644"/>
        </p:xfrm>
        <a:graphic>
          <a:graphicData uri="http://schemas.openxmlformats.org/drawingml/2006/table">
            <a:tbl>
              <a:tblPr bandRow="1">
                <a:tableStyleId>{5C22544A-7EE6-4342-B048-85BDC9FD1C3A}</a:tableStyleId>
              </a:tblPr>
              <a:tblGrid>
                <a:gridCol w="2282950">
                  <a:extLst>
                    <a:ext uri="{9D8B030D-6E8A-4147-A177-3AD203B41FA5}">
                      <a16:colId xmlns:a16="http://schemas.microsoft.com/office/drawing/2014/main" val="1032655845"/>
                    </a:ext>
                  </a:extLst>
                </a:gridCol>
                <a:gridCol w="2282950">
                  <a:extLst>
                    <a:ext uri="{9D8B030D-6E8A-4147-A177-3AD203B41FA5}">
                      <a16:colId xmlns:a16="http://schemas.microsoft.com/office/drawing/2014/main" val="3085844071"/>
                    </a:ext>
                  </a:extLst>
                </a:gridCol>
              </a:tblGrid>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831958121"/>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2921680608"/>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err="1">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3219985753"/>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1936649085"/>
                  </a:ext>
                </a:extLst>
              </a:tr>
              <a:tr h="359822">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2704050555"/>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1771117378"/>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929210237"/>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3599011606"/>
                  </a:ext>
                </a:extLst>
              </a:tr>
              <a:tr h="474311">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2312611534"/>
                  </a:ext>
                </a:extLst>
              </a:tr>
              <a:tr h="474311">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2122355860"/>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err="1">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1578129409"/>
                  </a:ext>
                </a:extLst>
              </a:tr>
              <a:tr h="278044">
                <a:tc>
                  <a:txBody>
                    <a:bodyPr/>
                    <a:lstStyle/>
                    <a:p>
                      <a:pPr>
                        <a:buNone/>
                      </a:pPr>
                      <a:endParaRPr lang="en-GB" sz="1400">
                        <a:solidFill>
                          <a:srgbClr val="000000"/>
                        </a:solidFill>
                        <a:latin typeface="Times New Roman"/>
                        <a:cs typeface="Times New Roman"/>
                      </a:endParaRPr>
                    </a:p>
                  </a:txBody>
                  <a:tcPr anchor="ctr">
                    <a:lnL>
                      <a:noFill/>
                    </a:lnL>
                    <a:lnR>
                      <a:noFill/>
                    </a:lnR>
                    <a:lnT>
                      <a:noFill/>
                    </a:lnT>
                    <a:lnB>
                      <a:noFill/>
                    </a:lnB>
                    <a:noFill/>
                  </a:tcPr>
                </a:tc>
                <a:tc>
                  <a:txBody>
                    <a:bodyPr/>
                    <a:lstStyle/>
                    <a:p>
                      <a:pPr>
                        <a:buNone/>
                      </a:pPr>
                      <a:endParaRPr lang="en-GB" sz="1400" dirty="0">
                        <a:solidFill>
                          <a:srgbClr val="000000"/>
                        </a:solidFill>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380763376"/>
                  </a:ext>
                </a:extLst>
              </a:tr>
            </a:tbl>
          </a:graphicData>
        </a:graphic>
      </p:graphicFrame>
      <p:graphicFrame>
        <p:nvGraphicFramePr>
          <p:cNvPr id="6" name="Table 5">
            <a:extLst>
              <a:ext uri="{FF2B5EF4-FFF2-40B4-BE49-F238E27FC236}">
                <a16:creationId xmlns:a16="http://schemas.microsoft.com/office/drawing/2014/main" id="{F8CD5A41-64F9-039C-57BE-01C9FA297985}"/>
              </a:ext>
            </a:extLst>
          </p:cNvPr>
          <p:cNvGraphicFramePr>
            <a:graphicFrameLocks noGrp="1"/>
          </p:cNvGraphicFramePr>
          <p:nvPr>
            <p:extLst>
              <p:ext uri="{D42A27DB-BD31-4B8C-83A1-F6EECF244321}">
                <p14:modId xmlns:p14="http://schemas.microsoft.com/office/powerpoint/2010/main" val="1748013661"/>
              </p:ext>
            </p:extLst>
          </p:nvPr>
        </p:nvGraphicFramePr>
        <p:xfrm>
          <a:off x="1807535" y="890476"/>
          <a:ext cx="5730734" cy="3443523"/>
        </p:xfrm>
        <a:graphic>
          <a:graphicData uri="http://schemas.openxmlformats.org/drawingml/2006/table">
            <a:tbl>
              <a:tblPr firstRow="1" bandRow="1">
                <a:tableStyleId>{5C22544A-7EE6-4342-B048-85BDC9FD1C3A}</a:tableStyleId>
              </a:tblPr>
              <a:tblGrid>
                <a:gridCol w="3035530">
                  <a:extLst>
                    <a:ext uri="{9D8B030D-6E8A-4147-A177-3AD203B41FA5}">
                      <a16:colId xmlns:a16="http://schemas.microsoft.com/office/drawing/2014/main" val="2415576856"/>
                    </a:ext>
                  </a:extLst>
                </a:gridCol>
                <a:gridCol w="2695204">
                  <a:extLst>
                    <a:ext uri="{9D8B030D-6E8A-4147-A177-3AD203B41FA5}">
                      <a16:colId xmlns:a16="http://schemas.microsoft.com/office/drawing/2014/main" val="557133847"/>
                    </a:ext>
                  </a:extLst>
                </a:gridCol>
              </a:tblGrid>
              <a:tr h="366117">
                <a:tc>
                  <a:txBody>
                    <a:bodyPr/>
                    <a:lstStyle/>
                    <a:p>
                      <a:pPr algn="ctr"/>
                      <a:r>
                        <a:rPr lang="en-GB"/>
                        <a:t>Category</a:t>
                      </a:r>
                    </a:p>
                  </a:txBody>
                  <a:tcPr/>
                </a:tc>
                <a:tc>
                  <a:txBody>
                    <a:bodyPr/>
                    <a:lstStyle/>
                    <a:p>
                      <a:pPr algn="ctr"/>
                      <a:r>
                        <a:rPr lang="en-GB" err="1"/>
                        <a:t>Technolo</a:t>
                      </a:r>
                      <a:r>
                        <a:rPr lang="en-GB"/>
                        <a:t>gy</a:t>
                      </a:r>
                    </a:p>
                  </a:txBody>
                  <a:tcPr/>
                </a:tc>
                <a:extLst>
                  <a:ext uri="{0D108BD9-81ED-4DB2-BD59-A6C34878D82A}">
                    <a16:rowId xmlns:a16="http://schemas.microsoft.com/office/drawing/2014/main" val="54424140"/>
                  </a:ext>
                </a:extLst>
              </a:tr>
              <a:tr h="341934">
                <a:tc>
                  <a:txBody>
                    <a:bodyPr/>
                    <a:lstStyle/>
                    <a:p>
                      <a:pPr algn="ctr"/>
                      <a:r>
                        <a:rPr lang="en-GB" sz="1400" err="1">
                          <a:solidFill>
                            <a:srgbClr val="000000"/>
                          </a:solidFill>
                          <a:latin typeface="Times New Roman"/>
                          <a:cs typeface="Times New Roman"/>
                        </a:rPr>
                        <a:t>Programmin</a:t>
                      </a:r>
                      <a:r>
                        <a:rPr lang="en-GB" sz="1400">
                          <a:solidFill>
                            <a:srgbClr val="000000"/>
                          </a:solidFill>
                          <a:latin typeface="Times New Roman"/>
                          <a:cs typeface="Times New Roman"/>
                        </a:rPr>
                        <a:t>g Language</a:t>
                      </a:r>
                    </a:p>
                  </a:txBody>
                  <a:tcPr anchor="ctr"/>
                </a:tc>
                <a:tc>
                  <a:txBody>
                    <a:bodyPr/>
                    <a:lstStyle/>
                    <a:p>
                      <a:pPr algn="ctr"/>
                      <a:r>
                        <a:rPr lang="en-GB" sz="1400">
                          <a:solidFill>
                            <a:srgbClr val="000000"/>
                          </a:solidFill>
                          <a:latin typeface="Times New Roman"/>
                          <a:cs typeface="Times New Roman"/>
                        </a:rPr>
                        <a:t>Python</a:t>
                      </a:r>
                    </a:p>
                  </a:txBody>
                  <a:tcPr anchor="ctr"/>
                </a:tc>
                <a:extLst>
                  <a:ext uri="{0D108BD9-81ED-4DB2-BD59-A6C34878D82A}">
                    <a16:rowId xmlns:a16="http://schemas.microsoft.com/office/drawing/2014/main" val="1249228085"/>
                  </a:ext>
                </a:extLst>
              </a:tr>
              <a:tr h="341934">
                <a:tc>
                  <a:txBody>
                    <a:bodyPr/>
                    <a:lstStyle/>
                    <a:p>
                      <a:pPr lvl="0" algn="ctr">
                        <a:buNone/>
                      </a:pPr>
                      <a:r>
                        <a:rPr lang="en-GB" sz="1400" b="0" i="0" u="none" strike="noStrike" noProof="0">
                          <a:solidFill>
                            <a:srgbClr val="000000"/>
                          </a:solidFill>
                          <a:latin typeface="Times New Roman"/>
                          <a:cs typeface="Times New Roman"/>
                        </a:rPr>
                        <a:t>Deep Learning Framework</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TensorFlow, </a:t>
                      </a:r>
                      <a:r>
                        <a:rPr lang="en-GB" sz="1400" b="0" i="0" u="none" strike="noStrike" noProof="0" err="1">
                          <a:solidFill>
                            <a:srgbClr val="000000"/>
                          </a:solidFill>
                          <a:latin typeface="Times New Roman"/>
                          <a:cs typeface="Times New Roman"/>
                        </a:rPr>
                        <a:t>Keras</a:t>
                      </a:r>
                      <a:r>
                        <a:rPr lang="en-GB" sz="1400" b="0" i="0" u="none" strike="noStrike" noProof="0">
                          <a:solidFill>
                            <a:srgbClr val="000000"/>
                          </a:solidFill>
                          <a:latin typeface="Times New Roman"/>
                          <a:cs typeface="Times New Roman"/>
                        </a:rPr>
                        <a:t>, </a:t>
                      </a:r>
                      <a:r>
                        <a:rPr lang="en-GB" sz="1400" b="0" i="0" u="none" strike="noStrike" noProof="0" err="1">
                          <a:solidFill>
                            <a:srgbClr val="000000"/>
                          </a:solidFill>
                          <a:latin typeface="Times New Roman"/>
                          <a:cs typeface="Times New Roman"/>
                        </a:rPr>
                        <a:t>PyTorch</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4210725725"/>
                  </a:ext>
                </a:extLst>
              </a:tr>
              <a:tr h="341934">
                <a:tc>
                  <a:txBody>
                    <a:bodyPr/>
                    <a:lstStyle/>
                    <a:p>
                      <a:pPr lvl="0" algn="ctr">
                        <a:buNone/>
                      </a:pPr>
                      <a:r>
                        <a:rPr lang="en-GB" sz="1400" b="0" i="0" u="none" strike="noStrike" noProof="0">
                          <a:solidFill>
                            <a:srgbClr val="000000"/>
                          </a:solidFill>
                          <a:latin typeface="Times New Roman"/>
                          <a:cs typeface="Times New Roman"/>
                        </a:rPr>
                        <a:t>Image Processing</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OpenCV, PIL</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3444266726"/>
                  </a:ext>
                </a:extLst>
              </a:tr>
              <a:tr h="341934">
                <a:tc>
                  <a:txBody>
                    <a:bodyPr/>
                    <a:lstStyle/>
                    <a:p>
                      <a:pPr lvl="0" algn="ctr">
                        <a:buNone/>
                      </a:pPr>
                      <a:r>
                        <a:rPr lang="en-GB" sz="1400" b="0" i="0" u="none" strike="noStrike" noProof="0">
                          <a:solidFill>
                            <a:srgbClr val="000000"/>
                          </a:solidFill>
                          <a:latin typeface="Times New Roman"/>
                          <a:cs typeface="Times New Roman"/>
                        </a:rPr>
                        <a:t>Deep Learning Models</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err="1">
                          <a:solidFill>
                            <a:srgbClr val="000000"/>
                          </a:solidFill>
                          <a:latin typeface="Times New Roman"/>
                          <a:cs typeface="Times New Roman"/>
                        </a:rPr>
                        <a:t>EfficientNet</a:t>
                      </a:r>
                      <a:r>
                        <a:rPr lang="en-GB" sz="1400" b="0" i="0" u="none" strike="noStrike" noProof="0">
                          <a:solidFill>
                            <a:srgbClr val="000000"/>
                          </a:solidFill>
                          <a:latin typeface="Times New Roman"/>
                          <a:cs typeface="Times New Roman"/>
                        </a:rPr>
                        <a:t>, </a:t>
                      </a:r>
                      <a:r>
                        <a:rPr lang="en-GB" sz="1400" b="0" i="0" u="none" strike="noStrike" noProof="0" err="1">
                          <a:solidFill>
                            <a:srgbClr val="000000"/>
                          </a:solidFill>
                          <a:latin typeface="Times New Roman"/>
                          <a:cs typeface="Times New Roman"/>
                        </a:rPr>
                        <a:t>ResNet</a:t>
                      </a:r>
                      <a:r>
                        <a:rPr lang="en-GB" sz="1400" b="0" i="0" u="none" strike="noStrike" noProof="0">
                          <a:solidFill>
                            <a:srgbClr val="000000"/>
                          </a:solidFill>
                          <a:latin typeface="Times New Roman"/>
                          <a:cs typeface="Times New Roman"/>
                        </a:rPr>
                        <a:t>, </a:t>
                      </a:r>
                      <a:r>
                        <a:rPr lang="en-GB" sz="1400" b="0" i="0" u="none" strike="noStrike" noProof="0" err="1">
                          <a:solidFill>
                            <a:srgbClr val="000000"/>
                          </a:solidFill>
                          <a:latin typeface="Times New Roman"/>
                          <a:cs typeface="Times New Roman"/>
                        </a:rPr>
                        <a:t>DenseNet</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1041523278"/>
                  </a:ext>
                </a:extLst>
              </a:tr>
              <a:tr h="341934">
                <a:tc>
                  <a:txBody>
                    <a:bodyPr/>
                    <a:lstStyle/>
                    <a:p>
                      <a:pPr lvl="0" algn="ctr">
                        <a:buNone/>
                      </a:pPr>
                      <a:r>
                        <a:rPr lang="en-GB" sz="1400" b="0" i="0" u="none" strike="noStrike" noProof="0">
                          <a:solidFill>
                            <a:srgbClr val="000000"/>
                          </a:solidFill>
                          <a:latin typeface="Times New Roman"/>
                          <a:cs typeface="Times New Roman"/>
                        </a:rPr>
                        <a:t>Explainable AI</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Grad-CAM, Grad-CAM++</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2337039518"/>
                  </a:ext>
                </a:extLst>
              </a:tr>
              <a:tr h="341934">
                <a:tc>
                  <a:txBody>
                    <a:bodyPr/>
                    <a:lstStyle/>
                    <a:p>
                      <a:pPr lvl="0" algn="ctr">
                        <a:buNone/>
                      </a:pPr>
                      <a:r>
                        <a:rPr lang="en-GB" sz="1400" b="0" i="0" u="none" strike="noStrike" noProof="0">
                          <a:solidFill>
                            <a:srgbClr val="000000"/>
                          </a:solidFill>
                          <a:latin typeface="Times New Roman"/>
                          <a:cs typeface="Times New Roman"/>
                        </a:rPr>
                        <a:t>Data Processing</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Pandas, NumPy</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2858139944"/>
                  </a:ext>
                </a:extLst>
              </a:tr>
              <a:tr h="341934">
                <a:tc>
                  <a:txBody>
                    <a:bodyPr/>
                    <a:lstStyle/>
                    <a:p>
                      <a:pPr lvl="0" algn="ctr">
                        <a:buNone/>
                      </a:pPr>
                      <a:r>
                        <a:rPr lang="en-GB" sz="1400" b="0" i="0" u="none" strike="noStrike" noProof="0">
                          <a:solidFill>
                            <a:srgbClr val="000000"/>
                          </a:solidFill>
                          <a:latin typeface="Times New Roman"/>
                          <a:cs typeface="Times New Roman"/>
                        </a:rPr>
                        <a:t>Data Visualization</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Matplotlib, Seaborn</a:t>
                      </a:r>
                      <a:endParaRPr lang="en-US" sz="1400">
                        <a:solidFill>
                          <a:srgbClr val="000000"/>
                        </a:solidFill>
                        <a:latin typeface="Times New Roman"/>
                        <a:cs typeface="Times New Roman"/>
                      </a:endParaRPr>
                    </a:p>
                  </a:txBody>
                  <a:tcPr anchor="ctr"/>
                </a:tc>
                <a:extLst>
                  <a:ext uri="{0D108BD9-81ED-4DB2-BD59-A6C34878D82A}">
                    <a16:rowId xmlns:a16="http://schemas.microsoft.com/office/drawing/2014/main" val="784687789"/>
                  </a:ext>
                </a:extLst>
              </a:tr>
              <a:tr h="341934">
                <a:tc>
                  <a:txBody>
                    <a:bodyPr/>
                    <a:lstStyle/>
                    <a:p>
                      <a:pPr lvl="0" algn="ctr">
                        <a:buNone/>
                      </a:pPr>
                      <a:r>
                        <a:rPr lang="en-GB" sz="1400" b="0" i="0" u="none" strike="noStrike" noProof="0">
                          <a:solidFill>
                            <a:srgbClr val="000000"/>
                          </a:solidFill>
                          <a:latin typeface="Times New Roman"/>
                          <a:cs typeface="Times New Roman"/>
                        </a:rPr>
                        <a:t>Backend / Deployment</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a:solidFill>
                            <a:srgbClr val="000000"/>
                          </a:solidFill>
                          <a:latin typeface="Times New Roman"/>
                          <a:cs typeface="Times New Roman"/>
                        </a:rPr>
                        <a:t>Flask / </a:t>
                      </a:r>
                      <a:r>
                        <a:rPr lang="en-GB" sz="1400" b="0" i="0" u="none" strike="noStrike" noProof="0" err="1">
                          <a:solidFill>
                            <a:srgbClr val="000000"/>
                          </a:solidFill>
                          <a:latin typeface="Times New Roman"/>
                          <a:cs typeface="Times New Roman"/>
                        </a:rPr>
                        <a:t>Streamlit</a:t>
                      </a:r>
                      <a:endParaRPr lang="en-US" sz="1400" err="1">
                        <a:solidFill>
                          <a:srgbClr val="000000"/>
                        </a:solidFill>
                        <a:latin typeface="Times New Roman"/>
                        <a:cs typeface="Times New Roman"/>
                      </a:endParaRPr>
                    </a:p>
                  </a:txBody>
                  <a:tcPr anchor="ctr"/>
                </a:tc>
                <a:extLst>
                  <a:ext uri="{0D108BD9-81ED-4DB2-BD59-A6C34878D82A}">
                    <a16:rowId xmlns:a16="http://schemas.microsoft.com/office/drawing/2014/main" val="3610369968"/>
                  </a:ext>
                </a:extLst>
              </a:tr>
              <a:tr h="341934">
                <a:tc>
                  <a:txBody>
                    <a:bodyPr/>
                    <a:lstStyle/>
                    <a:p>
                      <a:pPr lvl="0" algn="ctr">
                        <a:buNone/>
                      </a:pPr>
                      <a:r>
                        <a:rPr lang="en-GB" sz="1400" b="0" i="0" u="none" strike="noStrike" noProof="0">
                          <a:solidFill>
                            <a:srgbClr val="000000"/>
                          </a:solidFill>
                          <a:latin typeface="Times New Roman"/>
                          <a:cs typeface="Times New Roman"/>
                        </a:rPr>
                        <a:t>Development Tools</a:t>
                      </a:r>
                      <a:endParaRPr lang="en-US" sz="1400">
                        <a:solidFill>
                          <a:srgbClr val="000000"/>
                        </a:solidFill>
                        <a:latin typeface="Times New Roman"/>
                        <a:cs typeface="Times New Roman"/>
                      </a:endParaRPr>
                    </a:p>
                  </a:txBody>
                  <a:tcPr anchor="ctr"/>
                </a:tc>
                <a:tc>
                  <a:txBody>
                    <a:bodyPr/>
                    <a:lstStyle/>
                    <a:p>
                      <a:pPr lvl="0" algn="ctr">
                        <a:buNone/>
                      </a:pPr>
                      <a:r>
                        <a:rPr lang="en-GB" sz="1400" b="0" i="0" u="none" strike="noStrike" noProof="0" dirty="0">
                          <a:solidFill>
                            <a:srgbClr val="000000"/>
                          </a:solidFill>
                          <a:latin typeface="Times New Roman"/>
                          <a:cs typeface="Times New Roman"/>
                        </a:rPr>
                        <a:t>Git, GitHub</a:t>
                      </a:r>
                      <a:endParaRPr lang="en-US" sz="1400" dirty="0">
                        <a:solidFill>
                          <a:srgbClr val="000000"/>
                        </a:solidFill>
                        <a:latin typeface="Times New Roman"/>
                        <a:cs typeface="Times New Roman"/>
                      </a:endParaRPr>
                    </a:p>
                  </a:txBody>
                  <a:tcPr anchor="ctr"/>
                </a:tc>
                <a:extLst>
                  <a:ext uri="{0D108BD9-81ED-4DB2-BD59-A6C34878D82A}">
                    <a16:rowId xmlns:a16="http://schemas.microsoft.com/office/drawing/2014/main" val="815042743"/>
                  </a:ext>
                </a:extLst>
              </a:tr>
            </a:tbl>
          </a:graphicData>
        </a:graphic>
      </p:graphicFrame>
    </p:spTree>
    <p:extLst>
      <p:ext uri="{BB962C8B-B14F-4D97-AF65-F5344CB8AC3E}">
        <p14:creationId xmlns:p14="http://schemas.microsoft.com/office/powerpoint/2010/main" val="220477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B099-A703-95A5-F35A-760B6B417E96}"/>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46A2CB0E-ECB7-05EF-B264-0FA697A706C4}"/>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C6AC1584-F81E-57A6-BCC3-D267350ACBF6}"/>
              </a:ext>
            </a:extLst>
          </p:cNvPr>
          <p:cNvSpPr/>
          <p:nvPr/>
        </p:nvSpPr>
        <p:spPr>
          <a:xfrm>
            <a:off x="1297615" y="323414"/>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dirty="0">
                <a:solidFill>
                  <a:srgbClr val="FF0000"/>
                </a:solidFill>
                <a:latin typeface="Times New Roman" pitchFamily="18" charset="0"/>
                <a:cs typeface="Times New Roman" pitchFamily="18" charset="0"/>
              </a:rPr>
              <a:t>Implementation</a:t>
            </a:r>
            <a:endParaRPr lang="en-IN" sz="3200" spc="-1" dirty="0">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E0BBA285-27A4-380F-BCFA-E027FE9682D7}"/>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B5AA74C7-F7F4-98BB-5CC5-0A5190E69543}"/>
              </a:ext>
            </a:extLst>
          </p:cNvPr>
          <p:cNvSpPr/>
          <p:nvPr/>
        </p:nvSpPr>
        <p:spPr>
          <a:xfrm>
            <a:off x="7479720" y="4589640"/>
            <a:ext cx="12582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16</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EA577472-32EF-1219-0899-5AA803F64F02}"/>
              </a:ext>
            </a:extLst>
          </p:cNvPr>
          <p:cNvPicPr>
            <a:picLocks noChangeAspect="1"/>
          </p:cNvPicPr>
          <p:nvPr/>
        </p:nvPicPr>
        <p:blipFill>
          <a:blip r:embed="rId3"/>
          <a:stretch>
            <a:fillRect/>
          </a:stretch>
        </p:blipFill>
        <p:spPr>
          <a:xfrm>
            <a:off x="220439" y="166181"/>
            <a:ext cx="1355522" cy="337186"/>
          </a:xfrm>
          <a:prstGeom prst="rect">
            <a:avLst/>
          </a:prstGeom>
        </p:spPr>
      </p:pic>
      <p:pic>
        <p:nvPicPr>
          <p:cNvPr id="3" name="Picture 2">
            <a:extLst>
              <a:ext uri="{FF2B5EF4-FFF2-40B4-BE49-F238E27FC236}">
                <a16:creationId xmlns:a16="http://schemas.microsoft.com/office/drawing/2014/main" id="{96A403A9-243E-7145-8A2D-AAE609FE0316}"/>
              </a:ext>
            </a:extLst>
          </p:cNvPr>
          <p:cNvPicPr>
            <a:picLocks noChangeAspect="1"/>
          </p:cNvPicPr>
          <p:nvPr/>
        </p:nvPicPr>
        <p:blipFill>
          <a:blip r:embed="rId4"/>
          <a:stretch>
            <a:fillRect/>
          </a:stretch>
        </p:blipFill>
        <p:spPr>
          <a:xfrm>
            <a:off x="4568095" y="857250"/>
            <a:ext cx="4037245" cy="3653511"/>
          </a:xfrm>
          <a:prstGeom prst="rect">
            <a:avLst/>
          </a:prstGeom>
        </p:spPr>
      </p:pic>
      <p:pic>
        <p:nvPicPr>
          <p:cNvPr id="6" name="Picture 5">
            <a:extLst>
              <a:ext uri="{FF2B5EF4-FFF2-40B4-BE49-F238E27FC236}">
                <a16:creationId xmlns:a16="http://schemas.microsoft.com/office/drawing/2014/main" id="{0C13C00A-569D-30AE-9282-5D258A0A9286}"/>
              </a:ext>
            </a:extLst>
          </p:cNvPr>
          <p:cNvPicPr>
            <a:picLocks noChangeAspect="1"/>
          </p:cNvPicPr>
          <p:nvPr/>
        </p:nvPicPr>
        <p:blipFill>
          <a:blip r:embed="rId5"/>
          <a:stretch>
            <a:fillRect/>
          </a:stretch>
        </p:blipFill>
        <p:spPr>
          <a:xfrm>
            <a:off x="538660" y="950365"/>
            <a:ext cx="3884856" cy="3560395"/>
          </a:xfrm>
          <a:prstGeom prst="rect">
            <a:avLst/>
          </a:prstGeom>
        </p:spPr>
      </p:pic>
    </p:spTree>
    <p:extLst>
      <p:ext uri="{BB962C8B-B14F-4D97-AF65-F5344CB8AC3E}">
        <p14:creationId xmlns:p14="http://schemas.microsoft.com/office/powerpoint/2010/main" val="1537608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A567-E9F8-DE32-F62C-2918DBF28F9B}"/>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1588F994-7B34-5D99-EBF0-8EF920F294B1}"/>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DE623C3B-47A2-7D13-9A69-94C54B328AAB}"/>
              </a:ext>
            </a:extLst>
          </p:cNvPr>
          <p:cNvSpPr/>
          <p:nvPr/>
        </p:nvSpPr>
        <p:spPr>
          <a:xfrm>
            <a:off x="1297615" y="323414"/>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dirty="0">
                <a:solidFill>
                  <a:srgbClr val="FF0000"/>
                </a:solidFill>
                <a:latin typeface="Times New Roman" pitchFamily="18" charset="0"/>
                <a:cs typeface="Times New Roman" pitchFamily="18" charset="0"/>
              </a:rPr>
              <a:t>Results</a:t>
            </a:r>
            <a:endParaRPr lang="en-IN" sz="3200" spc="-1" dirty="0">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F2568728-04E6-8E0A-5CB7-88F9C0448D6B}"/>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DA7FD357-2918-A928-BA1B-E46050B182EC}"/>
              </a:ext>
            </a:extLst>
          </p:cNvPr>
          <p:cNvSpPr/>
          <p:nvPr/>
        </p:nvSpPr>
        <p:spPr>
          <a:xfrm>
            <a:off x="7479720" y="4589640"/>
            <a:ext cx="12582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17</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B6630EDC-4471-6D53-5A68-2CF5D6FA99EE}"/>
              </a:ext>
            </a:extLst>
          </p:cNvPr>
          <p:cNvPicPr>
            <a:picLocks noChangeAspect="1"/>
          </p:cNvPicPr>
          <p:nvPr/>
        </p:nvPicPr>
        <p:blipFill>
          <a:blip r:embed="rId2"/>
          <a:stretch>
            <a:fillRect/>
          </a:stretch>
        </p:blipFill>
        <p:spPr>
          <a:xfrm>
            <a:off x="220439" y="166181"/>
            <a:ext cx="1355522" cy="337186"/>
          </a:xfrm>
          <a:prstGeom prst="rect">
            <a:avLst/>
          </a:prstGeom>
        </p:spPr>
      </p:pic>
      <p:pic>
        <p:nvPicPr>
          <p:cNvPr id="3" name="Picture 2">
            <a:extLst>
              <a:ext uri="{FF2B5EF4-FFF2-40B4-BE49-F238E27FC236}">
                <a16:creationId xmlns:a16="http://schemas.microsoft.com/office/drawing/2014/main" id="{8D01C784-848D-6233-BC94-480E20C4481E}"/>
              </a:ext>
            </a:extLst>
          </p:cNvPr>
          <p:cNvPicPr>
            <a:picLocks noChangeAspect="1"/>
          </p:cNvPicPr>
          <p:nvPr/>
        </p:nvPicPr>
        <p:blipFill>
          <a:blip r:embed="rId3"/>
          <a:stretch>
            <a:fillRect/>
          </a:stretch>
        </p:blipFill>
        <p:spPr>
          <a:xfrm>
            <a:off x="657360" y="1152827"/>
            <a:ext cx="2966531" cy="2907928"/>
          </a:xfrm>
          <a:prstGeom prst="rect">
            <a:avLst/>
          </a:prstGeom>
        </p:spPr>
      </p:pic>
      <p:pic>
        <p:nvPicPr>
          <p:cNvPr id="6" name="Picture 5">
            <a:extLst>
              <a:ext uri="{FF2B5EF4-FFF2-40B4-BE49-F238E27FC236}">
                <a16:creationId xmlns:a16="http://schemas.microsoft.com/office/drawing/2014/main" id="{178D418B-EB31-72AB-33D8-6D15090DBB33}"/>
              </a:ext>
            </a:extLst>
          </p:cNvPr>
          <p:cNvPicPr>
            <a:picLocks noChangeAspect="1"/>
          </p:cNvPicPr>
          <p:nvPr/>
        </p:nvPicPr>
        <p:blipFill>
          <a:blip r:embed="rId4"/>
          <a:stretch>
            <a:fillRect/>
          </a:stretch>
        </p:blipFill>
        <p:spPr>
          <a:xfrm>
            <a:off x="3893171" y="1215360"/>
            <a:ext cx="4469952" cy="2907929"/>
          </a:xfrm>
          <a:prstGeom prst="rect">
            <a:avLst/>
          </a:prstGeom>
        </p:spPr>
      </p:pic>
      <p:sp>
        <p:nvSpPr>
          <p:cNvPr id="8" name="TextBox 7">
            <a:extLst>
              <a:ext uri="{FF2B5EF4-FFF2-40B4-BE49-F238E27FC236}">
                <a16:creationId xmlns:a16="http://schemas.microsoft.com/office/drawing/2014/main" id="{BA83E254-377D-C8F8-72E9-E3C226B3B283}"/>
              </a:ext>
            </a:extLst>
          </p:cNvPr>
          <p:cNvSpPr txBox="1"/>
          <p:nvPr/>
        </p:nvSpPr>
        <p:spPr>
          <a:xfrm>
            <a:off x="4669972" y="4215913"/>
            <a:ext cx="4572000" cy="281103"/>
          </a:xfrm>
          <a:prstGeom prst="rect">
            <a:avLst/>
          </a:prstGeom>
          <a:noFill/>
        </p:spPr>
        <p:txBody>
          <a:bodyPr wrap="square">
            <a:spAutoFit/>
          </a:bodyPr>
          <a:lstStyle/>
          <a:p>
            <a:pPr>
              <a:lnSpc>
                <a:spcPts val="1425"/>
              </a:lnSpc>
              <a:buNone/>
            </a:pPr>
            <a:r>
              <a:rPr lang="en-IN" sz="1400" b="0" dirty="0">
                <a:solidFill>
                  <a:schemeClr val="accent2"/>
                </a:solidFill>
                <a:effectLst/>
                <a:latin typeface="Times New Roman" panose="02020603050405020304" pitchFamily="18" charset="0"/>
                <a:cs typeface="Times New Roman" panose="02020603050405020304" pitchFamily="18" charset="0"/>
              </a:rPr>
              <a:t>Fig : sample images from each class</a:t>
            </a:r>
          </a:p>
        </p:txBody>
      </p:sp>
      <p:sp>
        <p:nvSpPr>
          <p:cNvPr id="10" name="TextBox 9">
            <a:extLst>
              <a:ext uri="{FF2B5EF4-FFF2-40B4-BE49-F238E27FC236}">
                <a16:creationId xmlns:a16="http://schemas.microsoft.com/office/drawing/2014/main" id="{ABC66FF2-AAF5-3E54-C036-42AB8D3C2C75}"/>
              </a:ext>
            </a:extLst>
          </p:cNvPr>
          <p:cNvSpPr txBox="1"/>
          <p:nvPr/>
        </p:nvSpPr>
        <p:spPr>
          <a:xfrm>
            <a:off x="1045028" y="4123288"/>
            <a:ext cx="4620984" cy="281103"/>
          </a:xfrm>
          <a:prstGeom prst="rect">
            <a:avLst/>
          </a:prstGeom>
          <a:noFill/>
        </p:spPr>
        <p:txBody>
          <a:bodyPr wrap="square">
            <a:spAutoFit/>
          </a:bodyPr>
          <a:lstStyle/>
          <a:p>
            <a:pPr>
              <a:lnSpc>
                <a:spcPts val="1425"/>
              </a:lnSpc>
              <a:buNone/>
            </a:pPr>
            <a:r>
              <a:rPr lang="en-US" sz="1300" b="0" dirty="0">
                <a:solidFill>
                  <a:srgbClr val="000000"/>
                </a:solidFill>
                <a:effectLst/>
                <a:latin typeface="Times New Roman" panose="02020603050405020304" pitchFamily="18" charset="0"/>
                <a:cs typeface="Times New Roman" panose="02020603050405020304" pitchFamily="18" charset="0"/>
              </a:rPr>
              <a:t>Fig: Class Distribution</a:t>
            </a:r>
            <a:endParaRPr lang="en-IN" sz="1300" b="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724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E6544-06DD-1078-68A3-CA2C6E044B95}"/>
            </a:ext>
          </a:extLst>
        </p:cNvPr>
        <p:cNvGrpSpPr/>
        <p:nvPr/>
      </p:nvGrpSpPr>
      <p:grpSpPr>
        <a:xfrm>
          <a:off x="0" y="0"/>
          <a:ext cx="0" cy="0"/>
          <a:chOff x="0" y="0"/>
          <a:chExt cx="0" cy="0"/>
        </a:xfrm>
      </p:grpSpPr>
      <p:sp>
        <p:nvSpPr>
          <p:cNvPr id="110" name="Google Shape;102;g353458fbea5_0_ 2">
            <a:extLst>
              <a:ext uri="{FF2B5EF4-FFF2-40B4-BE49-F238E27FC236}">
                <a16:creationId xmlns:a16="http://schemas.microsoft.com/office/drawing/2014/main" id="{C4D7EC29-3A93-F18E-F71C-28AE2B3C3E8A}"/>
              </a:ext>
            </a:extLst>
          </p:cNvPr>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a:extLst>
              <a:ext uri="{FF2B5EF4-FFF2-40B4-BE49-F238E27FC236}">
                <a16:creationId xmlns:a16="http://schemas.microsoft.com/office/drawing/2014/main" id="{10C3AC53-7367-2B67-BFF4-E485647FDE25}"/>
              </a:ext>
            </a:extLst>
          </p:cNvPr>
          <p:cNvSpPr/>
          <p:nvPr/>
        </p:nvSpPr>
        <p:spPr>
          <a:xfrm>
            <a:off x="1297615" y="323414"/>
            <a:ext cx="6540960" cy="675541"/>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gn="ctr">
              <a:lnSpc>
                <a:spcPct val="150000"/>
              </a:lnSpc>
              <a:buClr>
                <a:srgbClr val="000000"/>
              </a:buClr>
            </a:pPr>
            <a:r>
              <a:rPr lang="en-US" sz="3200" spc="-1">
                <a:solidFill>
                  <a:srgbClr val="FF0000"/>
                </a:solidFill>
                <a:latin typeface="Times New Roman" pitchFamily="18" charset="0"/>
                <a:cs typeface="Times New Roman" pitchFamily="18" charset="0"/>
              </a:rPr>
              <a:t>References</a:t>
            </a:r>
            <a:endParaRPr lang="en-IN" sz="3200" spc="-1">
              <a:solidFill>
                <a:srgbClr val="FF0000"/>
              </a:solidFill>
              <a:latin typeface="Times New Roman" pitchFamily="18" charset="0"/>
              <a:cs typeface="Times New Roman" pitchFamily="18" charset="0"/>
            </a:endParaRPr>
          </a:p>
        </p:txBody>
      </p:sp>
      <p:sp>
        <p:nvSpPr>
          <p:cNvPr id="113" name="Google Shape;105;g353458fbea5_0_ 2">
            <a:extLst>
              <a:ext uri="{FF2B5EF4-FFF2-40B4-BE49-F238E27FC236}">
                <a16:creationId xmlns:a16="http://schemas.microsoft.com/office/drawing/2014/main" id="{54C5D397-D07E-0DF5-FFB0-263DD70798DD}"/>
              </a:ext>
            </a:extLst>
          </p:cNvPr>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a:extLst>
              <a:ext uri="{FF2B5EF4-FFF2-40B4-BE49-F238E27FC236}">
                <a16:creationId xmlns:a16="http://schemas.microsoft.com/office/drawing/2014/main" id="{683FAB2C-3A31-3946-64AE-7C7B9FEFBB65}"/>
              </a:ext>
            </a:extLst>
          </p:cNvPr>
          <p:cNvSpPr/>
          <p:nvPr/>
        </p:nvSpPr>
        <p:spPr>
          <a:xfrm>
            <a:off x="7479720" y="4589640"/>
            <a:ext cx="125820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18</a:t>
            </a:r>
            <a:endParaRPr lang="en-IN" sz="1800" b="0" strike="noStrike" spc="-1" dirty="0">
              <a:solidFill>
                <a:srgbClr val="000000"/>
              </a:solidFill>
              <a:latin typeface="Arial"/>
            </a:endParaRPr>
          </a:p>
        </p:txBody>
      </p:sp>
      <p:pic>
        <p:nvPicPr>
          <p:cNvPr id="4" name="Picture 3">
            <a:extLst>
              <a:ext uri="{FF2B5EF4-FFF2-40B4-BE49-F238E27FC236}">
                <a16:creationId xmlns:a16="http://schemas.microsoft.com/office/drawing/2014/main" id="{C7307BFE-E83B-ED42-6934-E5D8560BEED7}"/>
              </a:ext>
            </a:extLst>
          </p:cNvPr>
          <p:cNvPicPr>
            <a:picLocks noChangeAspect="1"/>
          </p:cNvPicPr>
          <p:nvPr/>
        </p:nvPicPr>
        <p:blipFill>
          <a:blip r:embed="rId2"/>
          <a:stretch>
            <a:fillRect/>
          </a:stretch>
        </p:blipFill>
        <p:spPr>
          <a:xfrm>
            <a:off x="220439" y="166181"/>
            <a:ext cx="1355522" cy="337186"/>
          </a:xfrm>
          <a:prstGeom prst="rect">
            <a:avLst/>
          </a:prstGeom>
        </p:spPr>
      </p:pic>
      <p:sp>
        <p:nvSpPr>
          <p:cNvPr id="2" name="TextBox 1">
            <a:extLst>
              <a:ext uri="{FF2B5EF4-FFF2-40B4-BE49-F238E27FC236}">
                <a16:creationId xmlns:a16="http://schemas.microsoft.com/office/drawing/2014/main" id="{09E9218B-1617-7F00-2C87-4007DAE3584C}"/>
              </a:ext>
            </a:extLst>
          </p:cNvPr>
          <p:cNvSpPr txBox="1"/>
          <p:nvPr/>
        </p:nvSpPr>
        <p:spPr>
          <a:xfrm>
            <a:off x="492868" y="998955"/>
            <a:ext cx="8010303" cy="33572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150000"/>
              </a:lnSpc>
              <a:buFont typeface="+mj-lt"/>
              <a:buAutoNum type="arabicPeriod"/>
            </a:pPr>
            <a:r>
              <a:rPr lang="en-US" sz="1300" dirty="0">
                <a:solidFill>
                  <a:srgbClr val="000000"/>
                </a:solidFill>
                <a:latin typeface="Times New Roman"/>
                <a:cs typeface="Times New Roman"/>
              </a:rPr>
              <a:t>Gulshan, V., Peng, L., Coram, M., et al. “Development and Validation of a Deep Learning Algorithm for Detection of Diabetic Retinopathy in Retinal Fundus Photographs.” </a:t>
            </a:r>
            <a:r>
              <a:rPr lang="en-US" sz="1300" i="1" dirty="0">
                <a:solidFill>
                  <a:srgbClr val="000000"/>
                </a:solidFill>
                <a:latin typeface="Times New Roman"/>
                <a:cs typeface="Times New Roman"/>
              </a:rPr>
              <a:t>JAMA</a:t>
            </a:r>
            <a:r>
              <a:rPr lang="en-US" sz="1300" dirty="0">
                <a:solidFill>
                  <a:srgbClr val="000000"/>
                </a:solidFill>
                <a:latin typeface="Times New Roman"/>
                <a:cs typeface="Times New Roman"/>
              </a:rPr>
              <a:t>, Vol. 316, No. 22, pp. 2402–2410, 2016. doi:10.1001/jama.2016.17216.</a:t>
            </a:r>
          </a:p>
          <a:p>
            <a:pPr marL="342900" indent="-342900" algn="just">
              <a:lnSpc>
                <a:spcPct val="150000"/>
              </a:lnSpc>
              <a:buFont typeface="+mj-lt"/>
              <a:buAutoNum type="arabicPeriod"/>
            </a:pPr>
            <a:r>
              <a:rPr lang="en-US" sz="1300" dirty="0">
                <a:solidFill>
                  <a:srgbClr val="000000"/>
                </a:solidFill>
                <a:latin typeface="Times New Roman"/>
                <a:cs typeface="Times New Roman"/>
              </a:rPr>
              <a:t>Ting, D. S. W., Cheung, C. Y. L., Lim, G., et al. “Development and Validation of a Deep Learning System for Diabetic Retinopathy and Related Eye Diseases Using Retinal Images From Multiethnic Populations With Diabetes.” </a:t>
            </a:r>
            <a:r>
              <a:rPr lang="en-US" sz="1300" i="1" dirty="0">
                <a:solidFill>
                  <a:srgbClr val="000000"/>
                </a:solidFill>
                <a:latin typeface="Times New Roman"/>
                <a:cs typeface="Times New Roman"/>
              </a:rPr>
              <a:t>JAMA</a:t>
            </a:r>
            <a:r>
              <a:rPr lang="en-US" sz="1300" dirty="0">
                <a:solidFill>
                  <a:srgbClr val="000000"/>
                </a:solidFill>
                <a:latin typeface="Times New Roman"/>
                <a:cs typeface="Times New Roman"/>
              </a:rPr>
              <a:t>, Vol. 318, No. 22, pp. 2211–2223, 2017. doi:10.1001/jama.2017.18152.</a:t>
            </a:r>
          </a:p>
          <a:p>
            <a:pPr marL="342900" indent="-342900" algn="just">
              <a:lnSpc>
                <a:spcPct val="150000"/>
              </a:lnSpc>
              <a:buFont typeface="+mj-lt"/>
              <a:buAutoNum type="arabicPeriod"/>
            </a:pPr>
            <a:r>
              <a:rPr lang="en-US" sz="1300" dirty="0">
                <a:solidFill>
                  <a:srgbClr val="000000"/>
                </a:solidFill>
                <a:latin typeface="Times New Roman"/>
                <a:cs typeface="Times New Roman"/>
              </a:rPr>
              <a:t>Quellec, G., Al Hajj, H., </a:t>
            </a:r>
            <a:r>
              <a:rPr lang="en-US" sz="1300" dirty="0" err="1">
                <a:solidFill>
                  <a:srgbClr val="000000"/>
                </a:solidFill>
                <a:latin typeface="Times New Roman"/>
                <a:cs typeface="Times New Roman"/>
              </a:rPr>
              <a:t>Lamard</a:t>
            </a:r>
            <a:r>
              <a:rPr lang="en-US" sz="1300" dirty="0">
                <a:solidFill>
                  <a:srgbClr val="000000"/>
                </a:solidFill>
                <a:latin typeface="Times New Roman"/>
                <a:cs typeface="Times New Roman"/>
              </a:rPr>
              <a:t>, M., Conze, P.-H., Massin, P., and </a:t>
            </a:r>
            <a:r>
              <a:rPr lang="en-US" sz="1300" dirty="0" err="1">
                <a:solidFill>
                  <a:srgbClr val="000000"/>
                </a:solidFill>
                <a:latin typeface="Times New Roman"/>
                <a:cs typeface="Times New Roman"/>
              </a:rPr>
              <a:t>Cochener</a:t>
            </a:r>
            <a:r>
              <a:rPr lang="en-US" sz="1300" dirty="0">
                <a:solidFill>
                  <a:srgbClr val="000000"/>
                </a:solidFill>
                <a:latin typeface="Times New Roman"/>
                <a:cs typeface="Times New Roman"/>
              </a:rPr>
              <a:t>, B. “</a:t>
            </a:r>
            <a:r>
              <a:rPr lang="en-US" sz="1300" dirty="0" err="1">
                <a:solidFill>
                  <a:srgbClr val="000000"/>
                </a:solidFill>
                <a:latin typeface="Times New Roman"/>
                <a:cs typeface="Times New Roman"/>
              </a:rPr>
              <a:t>ExplAIn</a:t>
            </a:r>
            <a:r>
              <a:rPr lang="en-US" sz="1300" dirty="0">
                <a:solidFill>
                  <a:srgbClr val="000000"/>
                </a:solidFill>
                <a:latin typeface="Times New Roman"/>
                <a:cs typeface="Times New Roman"/>
              </a:rPr>
              <a:t>: Explanatory Artificial Intelligence for Diabetic Retinopathy Diagnosis.” </a:t>
            </a:r>
            <a:r>
              <a:rPr lang="en-US" sz="1300" i="1" dirty="0" err="1">
                <a:solidFill>
                  <a:srgbClr val="000000"/>
                </a:solidFill>
                <a:latin typeface="Times New Roman"/>
                <a:cs typeface="Times New Roman"/>
              </a:rPr>
              <a:t>arXiv</a:t>
            </a:r>
            <a:r>
              <a:rPr lang="en-US" sz="1300" i="1" dirty="0">
                <a:solidFill>
                  <a:srgbClr val="000000"/>
                </a:solidFill>
                <a:latin typeface="Times New Roman"/>
                <a:cs typeface="Times New Roman"/>
              </a:rPr>
              <a:t> preprint arXiv:2008.05731</a:t>
            </a:r>
            <a:r>
              <a:rPr lang="en-US" sz="1300" dirty="0">
                <a:solidFill>
                  <a:srgbClr val="000000"/>
                </a:solidFill>
                <a:latin typeface="Times New Roman"/>
                <a:cs typeface="Times New Roman"/>
              </a:rPr>
              <a:t>, 2020.</a:t>
            </a:r>
          </a:p>
          <a:p>
            <a:pPr marL="342900" indent="-342900" algn="just">
              <a:lnSpc>
                <a:spcPct val="150000"/>
              </a:lnSpc>
              <a:buFont typeface="+mj-lt"/>
              <a:buAutoNum type="arabicPeriod"/>
            </a:pPr>
            <a:r>
              <a:rPr lang="en-US" sz="1300" dirty="0" err="1">
                <a:solidFill>
                  <a:srgbClr val="000000"/>
                </a:solidFill>
                <a:latin typeface="Times New Roman"/>
                <a:cs typeface="Times New Roman"/>
              </a:rPr>
              <a:t>Ghadai</a:t>
            </a:r>
            <a:r>
              <a:rPr lang="en-US" sz="1300" dirty="0">
                <a:solidFill>
                  <a:srgbClr val="000000"/>
                </a:solidFill>
                <a:latin typeface="Times New Roman"/>
                <a:cs typeface="Times New Roman"/>
              </a:rPr>
              <a:t>, K. K., Nayak, S. K., and Senapati, B. R. “A Clinically Interpretable Deep Learning Pipeline for Diabetic Retinopathy Classification Using </a:t>
            </a:r>
            <a:r>
              <a:rPr lang="en-US" sz="1300" dirty="0" err="1">
                <a:solidFill>
                  <a:srgbClr val="000000"/>
                </a:solidFill>
                <a:latin typeface="Times New Roman"/>
                <a:cs typeface="Times New Roman"/>
              </a:rPr>
              <a:t>EfficientNet</a:t>
            </a:r>
            <a:r>
              <a:rPr lang="en-US" sz="1300" dirty="0">
                <a:solidFill>
                  <a:srgbClr val="000000"/>
                </a:solidFill>
                <a:latin typeface="Times New Roman"/>
                <a:cs typeface="Times New Roman"/>
              </a:rPr>
              <a:t>, Advanced Data Augmentation and </a:t>
            </a:r>
            <a:r>
              <a:rPr lang="en-US" sz="1300" dirty="0" err="1">
                <a:solidFill>
                  <a:srgbClr val="000000"/>
                </a:solidFill>
                <a:latin typeface="Times New Roman"/>
                <a:cs typeface="Times New Roman"/>
              </a:rPr>
              <a:t>GradCAM</a:t>
            </a:r>
            <a:r>
              <a:rPr lang="en-US" sz="1300" dirty="0">
                <a:solidFill>
                  <a:srgbClr val="000000"/>
                </a:solidFill>
                <a:latin typeface="Times New Roman"/>
                <a:cs typeface="Times New Roman"/>
              </a:rPr>
              <a:t>.” </a:t>
            </a:r>
            <a:r>
              <a:rPr lang="en-US" sz="1300" i="1" dirty="0">
                <a:solidFill>
                  <a:srgbClr val="000000"/>
                </a:solidFill>
                <a:latin typeface="Times New Roman"/>
                <a:cs typeface="Times New Roman"/>
              </a:rPr>
              <a:t>BMC Ophthalmology</a:t>
            </a:r>
            <a:r>
              <a:rPr lang="en-US" sz="1300" dirty="0">
                <a:solidFill>
                  <a:srgbClr val="000000"/>
                </a:solidFill>
                <a:latin typeface="Times New Roman"/>
                <a:cs typeface="Times New Roman"/>
              </a:rPr>
              <a:t>, Vol. 26, Article 406, 2026.</a:t>
            </a:r>
          </a:p>
        </p:txBody>
      </p:sp>
    </p:spTree>
    <p:extLst>
      <p:ext uri="{BB962C8B-B14F-4D97-AF65-F5344CB8AC3E}">
        <p14:creationId xmlns:p14="http://schemas.microsoft.com/office/powerpoint/2010/main" val="4026482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Google Shape;102;g353458fbea5_0_ 2"/>
          <p:cNvSpPr/>
          <p:nvPr/>
        </p:nvSpPr>
        <p:spPr>
          <a:xfrm>
            <a:off x="926640" y="1215360"/>
            <a:ext cx="7142760" cy="30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IN" sz="1400" b="0" strike="noStrike" spc="-1">
              <a:solidFill>
                <a:srgbClr val="000000"/>
              </a:solidFill>
              <a:latin typeface="Arial"/>
            </a:endParaRPr>
          </a:p>
        </p:txBody>
      </p:sp>
      <p:sp>
        <p:nvSpPr>
          <p:cNvPr id="111" name="Google Shape;103;g353458fbea5_0_ 2"/>
          <p:cNvSpPr/>
          <p:nvPr/>
        </p:nvSpPr>
        <p:spPr>
          <a:xfrm>
            <a:off x="2320194" y="217089"/>
            <a:ext cx="4797653" cy="6644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marL="285840" indent="-285840">
              <a:lnSpc>
                <a:spcPct val="150000"/>
              </a:lnSpc>
              <a:buClr>
                <a:srgbClr val="000000"/>
              </a:buClr>
            </a:pPr>
            <a:endParaRPr lang="en-IN" sz="3600" spc="-1">
              <a:solidFill>
                <a:srgbClr val="FF0000"/>
              </a:solidFill>
              <a:latin typeface="Times New Roman" pitchFamily="18" charset="0"/>
              <a:cs typeface="Times New Roman" pitchFamily="18" charset="0"/>
            </a:endParaRPr>
          </a:p>
        </p:txBody>
      </p:sp>
      <p:sp>
        <p:nvSpPr>
          <p:cNvPr id="113" name="Google Shape;105;g353458fbea5_0_ 2"/>
          <p:cNvSpPr/>
          <p:nvPr/>
        </p:nvSpPr>
        <p:spPr>
          <a:xfrm>
            <a:off x="657360" y="4584240"/>
            <a:ext cx="1258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0" strike="noStrike" spc="-1">
                <a:solidFill>
                  <a:srgbClr val="000000"/>
                </a:solidFill>
                <a:latin typeface="Times New Roman"/>
                <a:ea typeface="Times New Roman"/>
              </a:rPr>
              <a:t>Batch No. </a:t>
            </a:r>
            <a:r>
              <a:rPr lang="en-US" sz="1400" spc="-1">
                <a:solidFill>
                  <a:srgbClr val="000000"/>
                </a:solidFill>
                <a:latin typeface="Times New Roman"/>
                <a:ea typeface="Times New Roman"/>
              </a:rPr>
              <a:t>C1</a:t>
            </a:r>
            <a:endParaRPr lang="en-IN" sz="1400" b="0" strike="noStrike" spc="-1">
              <a:solidFill>
                <a:srgbClr val="000000"/>
              </a:solidFill>
              <a:latin typeface="Arial"/>
            </a:endParaRPr>
          </a:p>
        </p:txBody>
      </p:sp>
      <p:sp>
        <p:nvSpPr>
          <p:cNvPr id="114" name="Google Shape;106;g353458fbea5_0_ 2"/>
          <p:cNvSpPr/>
          <p:nvPr/>
        </p:nvSpPr>
        <p:spPr>
          <a:xfrm>
            <a:off x="7620000" y="4589640"/>
            <a:ext cx="1117920"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800" b="0" strike="noStrike" spc="-1" dirty="0">
                <a:solidFill>
                  <a:srgbClr val="000000"/>
                </a:solidFill>
                <a:latin typeface="Arial"/>
                <a:ea typeface="Arial"/>
              </a:rPr>
              <a:t>Slide 19</a:t>
            </a:r>
            <a:endParaRPr lang="en-IN" sz="1800" b="0" strike="noStrike" spc="-1" dirty="0">
              <a:solidFill>
                <a:srgbClr val="000000"/>
              </a:solidFill>
              <a:latin typeface="Arial"/>
            </a:endParaRPr>
          </a:p>
        </p:txBody>
      </p:sp>
      <p:pic>
        <p:nvPicPr>
          <p:cNvPr id="3" name="Picture 2">
            <a:extLst>
              <a:ext uri="{FF2B5EF4-FFF2-40B4-BE49-F238E27FC236}">
                <a16:creationId xmlns:a16="http://schemas.microsoft.com/office/drawing/2014/main" id="{89BF86CD-CDDA-7C98-2817-8FCA16FEB89D}"/>
              </a:ext>
            </a:extLst>
          </p:cNvPr>
          <p:cNvPicPr/>
          <p:nvPr/>
        </p:nvPicPr>
        <p:blipFill>
          <a:blip r:embed="rId2"/>
          <a:stretch>
            <a:fillRect/>
          </a:stretch>
        </p:blipFill>
        <p:spPr>
          <a:xfrm>
            <a:off x="350109" y="262556"/>
            <a:ext cx="1607820" cy="433705"/>
          </a:xfrm>
          <a:prstGeom prst="rect">
            <a:avLst/>
          </a:prstGeom>
        </p:spPr>
      </p:pic>
      <p:sp>
        <p:nvSpPr>
          <p:cNvPr id="8" name="Rectangle 7"/>
          <p:cNvSpPr/>
          <p:nvPr/>
        </p:nvSpPr>
        <p:spPr>
          <a:xfrm>
            <a:off x="2624788" y="1815644"/>
            <a:ext cx="3315523" cy="646331"/>
          </a:xfrm>
          <a:prstGeom prst="rect">
            <a:avLst/>
          </a:prstGeom>
        </p:spPr>
        <p:txBody>
          <a:bodyPr wrap="square">
            <a:spAutoFit/>
          </a:bodyPr>
          <a:lstStyle/>
          <a:p>
            <a:pPr algn="ctr">
              <a:lnSpc>
                <a:spcPct val="90000"/>
              </a:lnSpc>
              <a:tabLst>
                <a:tab pos="0" algn="l"/>
              </a:tabLst>
            </a:pPr>
            <a:r>
              <a:rPr lang="en-US" sz="4000" spc="-1">
                <a:solidFill>
                  <a:schemeClr val="bg1">
                    <a:lumMod val="10000"/>
                  </a:schemeClr>
                </a:solidFill>
                <a:latin typeface="Times New Roman" panose="02020603050405020304" pitchFamily="18" charset="0"/>
                <a:ea typeface="Noto Serif Ethiopic"/>
                <a:cs typeface="Times New Roman" panose="02020603050405020304" pitchFamily="18" charset="0"/>
              </a:rPr>
              <a:t>Any Queries?</a:t>
            </a:r>
            <a:endParaRPr lang="en-IN" sz="4000" spc="-1">
              <a:solidFill>
                <a:schemeClr val="bg1">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4877404"/>
      </p:ext>
    </p:extLst>
  </p:cSld>
  <p:clrMapOvr>
    <a:masterClrMapping/>
  </p:clrMapOvr>
</p:sld>
</file>

<file path=ppt/theme/theme1.xml><?xml version="1.0" encoding="utf-8"?>
<a:theme xmlns:a="http://schemas.openxmlformats.org/drawingml/2006/main" name="Executive Summary of Marketing Plan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Executive Summary of Marketing Plan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Executive Summary of Marketing Plan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Executive Summary of Marketing Plan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TotalTime>
  <Words>1993</Words>
  <Application>Microsoft Office PowerPoint</Application>
  <PresentationFormat>On-screen Show (16:9)</PresentationFormat>
  <Paragraphs>217</Paragraphs>
  <Slides>19</Slides>
  <Notes>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19</vt:i4>
      </vt:variant>
    </vt:vector>
  </HeadingPairs>
  <TitlesOfParts>
    <vt:vector size="30" baseType="lpstr">
      <vt:lpstr>Arial</vt:lpstr>
      <vt:lpstr>Arial,Sans-Serif</vt:lpstr>
      <vt:lpstr>Calibri</vt:lpstr>
      <vt:lpstr>Noto Serif Ethiopic</vt:lpstr>
      <vt:lpstr>Symbol</vt:lpstr>
      <vt:lpstr>Times New Roman</vt:lpstr>
      <vt:lpstr>Wingdings</vt:lpstr>
      <vt:lpstr>Executive Summary of Marketing Plan by Slidesgo</vt:lpstr>
      <vt:lpstr>Executive Summary of Marketing Plan by Slidesgo</vt:lpstr>
      <vt:lpstr>Executive Summary of Marketing Plan by Slidesgo</vt:lpstr>
      <vt:lpstr>Executive Summary of Marketing Plan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 lomte</dc:creator>
  <cp:lastModifiedBy>pravalika junnu</cp:lastModifiedBy>
  <cp:revision>42</cp:revision>
  <cp:lastPrinted>2025-06-16T14:22:42Z</cp:lastPrinted>
  <dcterms:created xsi:type="dcterms:W3CDTF">2023-11-16T18:23:00Z</dcterms:created>
  <dcterms:modified xsi:type="dcterms:W3CDTF">2026-09-11T10:12:54Z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007485E0D62B448B97377E8AC10DFA97_13</vt:lpwstr>
  </property>
  <property fmtid="{D5CDD505-2E9C-101B-9397-08002B2CF9AE}" pid="3" name="KSOProductBuildVer">
    <vt:lpwstr>1033-12.2.0.19805</vt:lpwstr>
  </property>
</Properties>
</file>